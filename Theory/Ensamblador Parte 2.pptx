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57" r:id="rId6"/>
    <p:sldId id="258" r:id="rId7"/>
    <p:sldId id="259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4498C-DEDC-0143-F4C4-74386772B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79F088-EA77-C2E8-2EF9-54A419504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A9EC2F-4A4D-38CB-596D-F6BC162D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2C1217-3DFF-61EA-7353-5F5CD8E5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0A76FA-7F70-E107-92F1-613AE8AC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4312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B577E-377E-898F-4D8E-5C2A77A7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8D693-068C-15D7-848F-D18C7DA7D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A5111-AFEA-1DE6-613E-82D1BB11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18C136-692E-D635-FCEF-18E56715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CC6AD5-112F-1653-6A3A-4EFF884E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74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1429D-3210-C2A4-FB7D-101FBB86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C9EDCD-9ED7-328B-DF9B-B459F7AD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44BE0C-D972-62CD-F155-30ABA0FC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192C50-B43F-7689-D602-592D33EB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091A2F-EB13-A762-4B14-8098FF4F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657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3797C-0DAF-2036-CCD9-8835BBD0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8DCC7F-D61E-3700-0D54-562CD8308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E16BAD-0219-AB07-4B7D-E15CB3F32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788D20-2018-FFB3-89D7-73A8CB40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30910-5A99-A1C1-88A1-CD557DFC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857B27-5E62-9A54-6D2B-79E468DA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864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92483-E0FF-218E-F77A-5D4C7AE8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F4FEC4-ECEB-383B-C25D-3DE3C83D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FD28A-A6FD-5E76-1958-420277770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369EAF-A7AC-05CA-0EBD-9543A3100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52CFC9A-4EA1-7C03-F5E8-6B8238CAC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33847D-B921-360A-F614-33DD2CBA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D7B006-2B17-52C7-25C4-2E5EE17C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EE508A-8A53-96D2-4278-16B79130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32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3CA6F-0522-C1D2-7817-74A70BF2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34A07C-9D5B-B252-FBA4-35814121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4E8DD9-1ADE-CA6F-6064-673185362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C2CE11-C4CF-ED8A-E9EE-F845381D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490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5C3B5DE-0A7A-77DB-4D43-2E0A9FEF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C9A6E8-F5D7-B075-534A-434EC3F2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CD6FA9-818C-836C-6007-6060A37D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5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C1AE6-BD66-466E-3601-DFD29C92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8D5034-3D31-F572-AA3E-21A73185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9F84F5-2DB4-E885-92D1-B6DAAC026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2468B2-4AC4-818F-FF8C-334AF482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0E44AE-9EC0-1B1D-8C9D-16F30635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0C75FD-4445-4BAC-680F-6C1E6B94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304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1008B-B654-A5B9-7257-4378C690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CB5D46-5B15-D065-90CA-7C64E7297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652EFC-F9AF-5F79-BEE2-0F6FF96CB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4A1C2F-7185-E510-0A74-12C76101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4B4F42-12F9-6F1D-B2F8-3647FBAC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E763CF-D0B6-B46C-9EF7-D2643A0A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086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F9139-1FD0-3F78-FC5F-1DC9417D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92CF99-936F-5E87-3FEA-543119D1D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FC9065-55C7-5842-A1CF-21666A0D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CDDE07-06D0-9A1C-9D3C-227017E7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F95F0-C25B-395F-43CA-A0C97E52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39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CCF88-D7E1-8D55-97FB-70DFDFE44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D2C419-93E2-ECD6-4A07-2D0452ADF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F1EE04-1804-6A58-E857-B8EEA8F2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EA4F7A-296E-6919-E2C4-BC4A0169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1342CD-358C-FA28-2E22-22BDA19D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937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61A88E-32F2-8F28-8DC6-E1C21B37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570E4F-1263-C91D-14BE-8312D65D7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6F2983-B2CD-DEF0-D336-C42257AEB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FE4E8-C92A-404A-994A-8BC543E1DA05}" type="datetimeFigureOut">
              <a:rPr lang="es-CO" smtClean="0"/>
              <a:t>20/05/2025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6C9A42-D2A5-4F2B-3843-638240A80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B0A69-25F6-CD6F-154A-49F2E00AD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6D3D6-D0FA-45C4-8E1F-598D0D663A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909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EB9EE-291C-FD1A-BF06-DB6710A6D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Ensamblador Parte 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5317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2826C-3439-1793-A2C8-2374059C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Includes</a:t>
            </a:r>
            <a:r>
              <a:rPr lang="es-MX" dirty="0"/>
              <a:t> y librerías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126098-4D7D-6B69-F88E-9E04AB1E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265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AB708-F2F6-F59C-0842-5CB22D69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Comentarios en ensamblador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CC797-1C65-A32A-6B2E-E0A8EDA13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423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9F02E-BDEC-DBB1-4E1A-4BC16DD0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Mover datos a registros y viceversa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2DE604-F3C3-27AE-BDBC-86C9BBA7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512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358C6-C7F7-6330-79E0-000F0B28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OPERACIONES MATEMÁTICAS SIMPLES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61FA83C-D5FB-52E3-9F39-ADE1E8FD93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954186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251512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8678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Instrucción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Descripción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21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ADD Destino, Fuente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Suma dos valores y deja el resultado en el Destino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54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SUB Destino, Fuente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Resta dos valores y deja el resultado en el Destino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9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Mul</a:t>
                      </a:r>
                      <a:r>
                        <a:rPr lang="es-MX" dirty="0"/>
                        <a:t> Fuente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Multiplica el contenido del registro EAX, por el operando Fuente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13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Div</a:t>
                      </a:r>
                      <a:r>
                        <a:rPr lang="es-MX" dirty="0"/>
                        <a:t> Fuente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Divide el contenido del registro EAX, por el operando Fuente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42377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29519BB-6D30-E47F-5539-8780E5FD4EB8}"/>
              </a:ext>
            </a:extLst>
          </p:cNvPr>
          <p:cNvSpPr txBox="1"/>
          <p:nvPr/>
        </p:nvSpPr>
        <p:spPr>
          <a:xfrm>
            <a:off x="838200" y="453874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Estas operaciones, influyen en las banderas que comentamos en los tipos de registros llamados registros de banderas o </a:t>
            </a:r>
            <a:r>
              <a:rPr lang="es-MX" dirty="0" err="1"/>
              <a:t>flags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051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6BC0B-25F7-1766-B735-F147FE8F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Proceso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BCB35C-BC5E-87B2-5C4B-1082E7959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351338"/>
          </a:xfrm>
        </p:spPr>
        <p:txBody>
          <a:bodyPr/>
          <a:lstStyle/>
          <a:p>
            <a:r>
              <a:rPr lang="es-MX" dirty="0"/>
              <a:t>Es un programa en ejecución</a:t>
            </a:r>
            <a:endParaRPr lang="es-CO" dirty="0"/>
          </a:p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D29ED2E-7B33-30FF-275A-850A7E6B1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375113"/>
              </p:ext>
            </p:extLst>
          </p:nvPr>
        </p:nvGraphicFramePr>
        <p:xfrm>
          <a:off x="4074885" y="2566194"/>
          <a:ext cx="4042229" cy="287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2229">
                  <a:extLst>
                    <a:ext uri="{9D8B030D-6E8A-4147-A177-3AD203B41FA5}">
                      <a16:colId xmlns:a16="http://schemas.microsoft.com/office/drawing/2014/main" val="798667118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Pila (</a:t>
                      </a:r>
                      <a:r>
                        <a:rPr lang="es-MX" dirty="0" err="1"/>
                        <a:t>Stack</a:t>
                      </a:r>
                      <a:r>
                        <a:rPr lang="es-MX" dirty="0"/>
                        <a:t>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65651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Memoria libre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41366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Montículo (</a:t>
                      </a:r>
                      <a:r>
                        <a:rPr lang="es-MX" dirty="0" err="1"/>
                        <a:t>Heap</a:t>
                      </a:r>
                      <a:r>
                        <a:rPr lang="es-MX" dirty="0"/>
                        <a:t>)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448770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Datos estáticos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565418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Código del programa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36727"/>
                  </a:ext>
                </a:extLst>
              </a:tr>
            </a:tbl>
          </a:graphicData>
        </a:graphic>
      </p:graphicFrame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A741621-74DA-D97F-5FFE-4EB3110D6CB3}"/>
              </a:ext>
            </a:extLst>
          </p:cNvPr>
          <p:cNvCxnSpPr>
            <a:cxnSpLocks/>
          </p:cNvCxnSpPr>
          <p:nvPr/>
        </p:nvCxnSpPr>
        <p:spPr>
          <a:xfrm flipV="1">
            <a:off x="2939143" y="2694214"/>
            <a:ext cx="0" cy="26278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1D1CBEDE-8FD6-D339-94D2-793BC5AEB48F}"/>
              </a:ext>
            </a:extLst>
          </p:cNvPr>
          <p:cNvSpPr txBox="1"/>
          <p:nvPr/>
        </p:nvSpPr>
        <p:spPr>
          <a:xfrm>
            <a:off x="1385892" y="3489555"/>
            <a:ext cx="1741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Direcciones altas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EFE976-6D0E-558D-C86E-88977C1D0933}"/>
              </a:ext>
            </a:extLst>
          </p:cNvPr>
          <p:cNvSpPr txBox="1"/>
          <p:nvPr/>
        </p:nvSpPr>
        <p:spPr>
          <a:xfrm>
            <a:off x="9252855" y="3812720"/>
            <a:ext cx="1553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Direcciones bajas</a:t>
            </a:r>
            <a:endParaRPr lang="es-CO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9BBF515-6128-E560-34EA-E9797F893D97}"/>
              </a:ext>
            </a:extLst>
          </p:cNvPr>
          <p:cNvCxnSpPr/>
          <p:nvPr/>
        </p:nvCxnSpPr>
        <p:spPr>
          <a:xfrm>
            <a:off x="8654143" y="2451891"/>
            <a:ext cx="0" cy="28702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0EC9FE-BE79-94DE-D5D7-F47E6234F497}"/>
              </a:ext>
            </a:extLst>
          </p:cNvPr>
          <p:cNvSpPr txBox="1"/>
          <p:nvPr/>
        </p:nvSpPr>
        <p:spPr>
          <a:xfrm>
            <a:off x="3896177" y="5628826"/>
            <a:ext cx="4399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Ejemplo visual del espacio de memoria de un proceso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5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D82E9-3A0E-F99F-B0CC-72C5EAF0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pila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CE2D6A-5C12-FFA5-A290-6A54C139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Memoria temporal, que le va a permitir almacenar direcciones y algunos datos</a:t>
            </a:r>
          </a:p>
          <a:p>
            <a:r>
              <a:rPr lang="es-MX" dirty="0"/>
              <a:t>Para almacenar instrucciones en la pila use “</a:t>
            </a:r>
            <a:r>
              <a:rPr lang="es-MX" dirty="0" err="1"/>
              <a:t>push</a:t>
            </a:r>
            <a:r>
              <a:rPr lang="es-MX" dirty="0"/>
              <a:t>” y para recuperar esos valores use “pop”</a:t>
            </a:r>
          </a:p>
        </p:txBody>
      </p:sp>
    </p:spTree>
    <p:extLst>
      <p:ext uri="{BB962C8B-B14F-4D97-AF65-F5344CB8AC3E}">
        <p14:creationId xmlns:p14="http://schemas.microsoft.com/office/powerpoint/2010/main" val="184151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84577-F1BA-6775-5C9E-9AB54C93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05"/>
            <a:ext cx="10515600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1A6717-EBFA-84FD-D1A6-30AEB1F3E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768"/>
            <a:ext cx="10515600" cy="1848304"/>
          </a:xfrm>
        </p:spPr>
        <p:txBody>
          <a:bodyPr/>
          <a:lstStyle/>
          <a:p>
            <a:pPr algn="just"/>
            <a:r>
              <a:rPr lang="es-MX" sz="2700" dirty="0"/>
              <a:t>Suponga que quiere guardar un valor en una variable y ese valor está en el registro EAX, es decir, quiere hacer:</a:t>
            </a:r>
            <a:endParaRPr lang="es-MX" dirty="0"/>
          </a:p>
          <a:p>
            <a:pPr marL="457200" lvl="1" indent="0">
              <a:buNone/>
            </a:pPr>
            <a:endParaRPr lang="es-MX" sz="2700" b="1" dirty="0"/>
          </a:p>
          <a:p>
            <a:pPr marL="457200" lvl="1" indent="0">
              <a:buNone/>
            </a:pPr>
            <a:r>
              <a:rPr lang="es-MX" sz="2700" b="1" dirty="0" err="1"/>
              <a:t>Mov</a:t>
            </a:r>
            <a:r>
              <a:rPr lang="es-MX" sz="2700" dirty="0"/>
              <a:t> Variable, EAX</a:t>
            </a:r>
          </a:p>
          <a:p>
            <a:pPr marL="457200" lvl="1" indent="0">
              <a:buNone/>
            </a:pPr>
            <a:endParaRPr lang="es-MX" sz="2700" dirty="0"/>
          </a:p>
          <a:p>
            <a:pPr marL="457200" lvl="1" indent="0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C4B2C1-6670-9DBC-C7A5-6B414C4F507C}"/>
              </a:ext>
            </a:extLst>
          </p:cNvPr>
          <p:cNvSpPr txBox="1"/>
          <p:nvPr/>
        </p:nvSpPr>
        <p:spPr>
          <a:xfrm>
            <a:off x="838200" y="3319009"/>
            <a:ext cx="1016725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2700" dirty="0"/>
              <a:t>Esto es válido siempre que Variable sea de 32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700" dirty="0"/>
              <a:t>El mismo proceso se puede hacer con la pila escribiendo:</a:t>
            </a:r>
          </a:p>
          <a:p>
            <a:pPr lvl="1"/>
            <a:endParaRPr lang="es-MX" sz="2700" dirty="0"/>
          </a:p>
          <a:p>
            <a:pPr lvl="1"/>
            <a:r>
              <a:rPr lang="es-MX" sz="2700" b="1" dirty="0" err="1"/>
              <a:t>Push</a:t>
            </a:r>
            <a:r>
              <a:rPr lang="es-MX" sz="2700" dirty="0"/>
              <a:t> Variable</a:t>
            </a:r>
          </a:p>
          <a:p>
            <a:pPr lvl="1"/>
            <a:r>
              <a:rPr lang="es-MX" sz="2700" b="1" dirty="0"/>
              <a:t>Pop</a:t>
            </a:r>
            <a:r>
              <a:rPr lang="es-MX" sz="2700" dirty="0"/>
              <a:t> EAX</a:t>
            </a:r>
          </a:p>
          <a:p>
            <a:pPr lvl="1"/>
            <a:endParaRPr lang="es-MX" sz="2700" dirty="0"/>
          </a:p>
          <a:p>
            <a:pPr lvl="1"/>
            <a:r>
              <a:rPr lang="es-MX" sz="2700" dirty="0"/>
              <a:t>Nota: Esta forma es más “pura” y rápida que </a:t>
            </a:r>
            <a:r>
              <a:rPr lang="es-MX" sz="2700" b="1" dirty="0" err="1"/>
              <a:t>Mov</a:t>
            </a:r>
            <a:endParaRPr lang="es-MX" sz="2700" dirty="0"/>
          </a:p>
        </p:txBody>
      </p:sp>
    </p:spTree>
    <p:extLst>
      <p:ext uri="{BB962C8B-B14F-4D97-AF65-F5344CB8AC3E}">
        <p14:creationId xmlns:p14="http://schemas.microsoft.com/office/powerpoint/2010/main" val="332471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EF3BA-9668-F67A-D46F-0CFFA83E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Procedimientos en MASM32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72F79-D1CC-341E-DE74-89D782739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Un procedimiento en MASM32 (o función) es un bloque de código que puedes llamar desde otra parte del programa. Tiene la forma:</a:t>
            </a:r>
          </a:p>
          <a:p>
            <a:r>
              <a:rPr lang="es-MX" dirty="0"/>
              <a:t>La sintaxis para crear un procedimiento es:</a:t>
            </a:r>
          </a:p>
          <a:p>
            <a:endParaRPr lang="es-MX" dirty="0"/>
          </a:p>
          <a:p>
            <a:pPr marL="457200" lvl="1" indent="0">
              <a:buNone/>
            </a:pPr>
            <a:r>
              <a:rPr lang="es-MX" dirty="0" err="1"/>
              <a:t>Nombre_Procedimiento</a:t>
            </a:r>
            <a:r>
              <a:rPr lang="es-MX" dirty="0"/>
              <a:t> PROC </a:t>
            </a:r>
            <a:r>
              <a:rPr lang="es-MX" dirty="0" err="1"/>
              <a:t>argumentos_opcionales</a:t>
            </a:r>
            <a:endParaRPr lang="es-MX" dirty="0"/>
          </a:p>
          <a:p>
            <a:pPr marL="457200" lvl="1" indent="0">
              <a:buNone/>
            </a:pPr>
            <a:r>
              <a:rPr lang="es-MX" dirty="0"/>
              <a:t>	; Código en esta parte</a:t>
            </a:r>
          </a:p>
          <a:p>
            <a:pPr marL="457200" lvl="1" indent="0">
              <a:buNone/>
            </a:pPr>
            <a:r>
              <a:rPr lang="es-MX" dirty="0" err="1"/>
              <a:t>Nombre_Procedimiento</a:t>
            </a:r>
            <a:r>
              <a:rPr lang="es-MX" dirty="0"/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721416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FAAEB-5B6C-64CF-0CF3-180F9F67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164726-A56D-D3FD-D2B5-B22251BD6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1413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283</Words>
  <Application>Microsoft Office PowerPoint</Application>
  <PresentationFormat>Panorámica</PresentationFormat>
  <Paragraphs>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Ensamblador Parte 2</vt:lpstr>
      <vt:lpstr>Includes y librerías</vt:lpstr>
      <vt:lpstr>Comentarios en ensamblador</vt:lpstr>
      <vt:lpstr>Mover datos a registros y viceversa</vt:lpstr>
      <vt:lpstr>OPERACIONES MATEMÁTICAS SIMPLES</vt:lpstr>
      <vt:lpstr>Proceso</vt:lpstr>
      <vt:lpstr>La pila</vt:lpstr>
      <vt:lpstr>Ejemplo</vt:lpstr>
      <vt:lpstr>Procedimientos en MASM32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Calderón</dc:creator>
  <cp:lastModifiedBy>Carmen Calderón</cp:lastModifiedBy>
  <cp:revision>1</cp:revision>
  <dcterms:created xsi:type="dcterms:W3CDTF">2025-05-20T18:31:03Z</dcterms:created>
  <dcterms:modified xsi:type="dcterms:W3CDTF">2025-05-20T19:29:42Z</dcterms:modified>
</cp:coreProperties>
</file>