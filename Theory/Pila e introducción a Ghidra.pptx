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3" r:id="rId6"/>
    <p:sldId id="266" r:id="rId7"/>
    <p:sldId id="267" r:id="rId8"/>
    <p:sldId id="269" r:id="rId9"/>
    <p:sldId id="268" r:id="rId10"/>
    <p:sldId id="285" r:id="rId11"/>
    <p:sldId id="287" r:id="rId12"/>
    <p:sldId id="288" r:id="rId13"/>
    <p:sldId id="289" r:id="rId14"/>
    <p:sldId id="286" r:id="rId15"/>
    <p:sldId id="270" r:id="rId16"/>
    <p:sldId id="271" r:id="rId17"/>
    <p:sldId id="262" r:id="rId18"/>
    <p:sldId id="290" r:id="rId19"/>
    <p:sldId id="274" r:id="rId20"/>
    <p:sldId id="272" r:id="rId21"/>
    <p:sldId id="273" r:id="rId22"/>
    <p:sldId id="275" r:id="rId23"/>
    <p:sldId id="276" r:id="rId24"/>
    <p:sldId id="277" r:id="rId25"/>
    <p:sldId id="278" r:id="rId26"/>
    <p:sldId id="279" r:id="rId27"/>
    <p:sldId id="258" r:id="rId28"/>
    <p:sldId id="259" r:id="rId29"/>
    <p:sldId id="260" r:id="rId30"/>
    <p:sldId id="281" r:id="rId31"/>
    <p:sldId id="282" r:id="rId32"/>
    <p:sldId id="283" r:id="rId33"/>
    <p:sldId id="284" r:id="rId34"/>
    <p:sldId id="280" r:id="rId35"/>
    <p:sldId id="261" r:id="rId3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>
        <p:scale>
          <a:sx n="100" d="100"/>
          <a:sy n="100" d="100"/>
        </p:scale>
        <p:origin x="-475" y="-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BE719-07A3-C3E3-D590-529069E08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BA1604-47F6-A37C-D14E-637E0D38E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AD4315-D594-0143-812E-2CC9DC282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70E2D-248F-4DBE-9B05-82CA75DD6E0D}" type="datetimeFigureOut">
              <a:rPr lang="es-CO" smtClean="0"/>
              <a:t>14/06/2025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59794F-E7E1-25F0-3E9C-9DFCBF84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58C8A5-C078-5D59-6244-0FC9C9ED7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EC87-768E-497A-A882-3EBDFD4A52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79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715FF-EEA5-A0A2-0B88-85B08D3A2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D190E0-4A71-EA01-BAD0-B62BFC99C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DA5961-D6F3-2D19-DE09-E72379A71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70E2D-248F-4DBE-9B05-82CA75DD6E0D}" type="datetimeFigureOut">
              <a:rPr lang="es-CO" smtClean="0"/>
              <a:t>14/06/2025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03906F-0047-9639-192D-0F8022F3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07067-C6BC-692F-8074-C8F38F57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EC87-768E-497A-A882-3EBDFD4A52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4574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923B1-3E1F-B9D3-3580-9EA7B643C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BD77C7-70D4-17E4-CD91-646B303DF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92B94F-27D7-1636-D475-F49CDB3A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70E2D-248F-4DBE-9B05-82CA75DD6E0D}" type="datetimeFigureOut">
              <a:rPr lang="es-CO" smtClean="0"/>
              <a:t>14/06/2025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F91A38-BBF5-5727-3DB1-77FA4FE5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C66B33-27B7-01F2-8831-56F31797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EC87-768E-497A-A882-3EBDFD4A52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346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7C17D-D521-4BE6-CC06-82260DBCE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814AF1-F43A-C76D-1DC8-C468C6CC2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FCF055-9183-1A2A-D685-23B7385B1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833F60-3F89-7E6F-6D4A-865145B4E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70E2D-248F-4DBE-9B05-82CA75DD6E0D}" type="datetimeFigureOut">
              <a:rPr lang="es-CO" smtClean="0"/>
              <a:t>14/06/2025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82A2E7-7077-9370-80EE-16D2DB09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113274-6818-3420-D420-8A15A483B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EC87-768E-497A-A882-3EBDFD4A52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789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19B2D-81F5-42C6-B3DE-40643F447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986732-B494-DB0E-CD36-C5DA00434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7D86BB-24C4-DF94-6C8D-5E5A42493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69BA930-6180-1927-660E-66B65F8D6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6C270E-7CE8-E5A2-87E1-3D08F2646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1E6E57-A093-F4C0-3DE3-5A0AA98C8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70E2D-248F-4DBE-9B05-82CA75DD6E0D}" type="datetimeFigureOut">
              <a:rPr lang="es-CO" smtClean="0"/>
              <a:t>14/06/2025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A939979-F2FA-B813-0501-4874D34C8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508E30A-4508-02C3-B4D7-913CE6B25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EC87-768E-497A-A882-3EBDFD4A52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086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55D238-CBA6-4742-86E7-E1DC727E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4ABE432-FA58-F0F7-7AD8-35F8E7D99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70E2D-248F-4DBE-9B05-82CA75DD6E0D}" type="datetimeFigureOut">
              <a:rPr lang="es-CO" smtClean="0"/>
              <a:t>14/06/2025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CF919C3-5528-2246-73BB-CBD8DD87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9D37E93-A079-3FE1-DC50-7A6C83B74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EC87-768E-497A-A882-3EBDFD4A52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56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4937EF8-8182-55B0-33AB-4B07D2942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70E2D-248F-4DBE-9B05-82CA75DD6E0D}" type="datetimeFigureOut">
              <a:rPr lang="es-CO" smtClean="0"/>
              <a:t>14/06/2025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7698969-354A-53DF-45A4-3F4E3A559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C24EED-299F-1CCA-D65A-BBD0E59E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EC87-768E-497A-A882-3EBDFD4A52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493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8F394-9DC4-42B0-7012-51770B189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0C93AF-BE93-4238-51A1-137D1FC1F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92DCA7-23D3-5857-BF45-6763F11DA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33B9B5-DC1A-ED47-4D6D-F6ED8FB6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70E2D-248F-4DBE-9B05-82CA75DD6E0D}" type="datetimeFigureOut">
              <a:rPr lang="es-CO" smtClean="0"/>
              <a:t>14/06/2025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920954-448F-1000-BEC1-DEDDB7DA0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69DC29-99FC-CACB-CEE2-C26441CC9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EC87-768E-497A-A882-3EBDFD4A52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6854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CD483-5C37-5CE0-56D2-04BBD813C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E4F56A2-B2DD-8431-6E6F-AAD40377C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E85FFA-63D0-DBF6-EED8-20F2743AD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312577-287A-3604-660F-2D58B2E59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70E2D-248F-4DBE-9B05-82CA75DD6E0D}" type="datetimeFigureOut">
              <a:rPr lang="es-CO" smtClean="0"/>
              <a:t>14/06/2025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6FBB37-BCD6-E6A7-BB00-DB4CF102D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756E34-5A90-C8C2-15E6-523A2F70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EC87-768E-497A-A882-3EBDFD4A52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0156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FDAD1-AF70-0C26-1555-90AF61CC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6222CE-CD4C-B420-2E90-9EA7C14C3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56FE9E-D7BF-BF54-6D21-9BC1245D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70E2D-248F-4DBE-9B05-82CA75DD6E0D}" type="datetimeFigureOut">
              <a:rPr lang="es-CO" smtClean="0"/>
              <a:t>14/06/2025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289452-FDBD-4B04-B0BB-6E11B4D88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700A73-1265-0644-248B-5DCF3669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EC87-768E-497A-A882-3EBDFD4A52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348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FEF7A3-AEE8-B1F8-84CD-276290E911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536A85-61DB-1F90-6DB5-B65375DA6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4F3302-102C-1EF3-B924-D53AA629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70E2D-248F-4DBE-9B05-82CA75DD6E0D}" type="datetimeFigureOut">
              <a:rPr lang="es-CO" smtClean="0"/>
              <a:t>14/06/2025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17FDD9-5B54-2526-577A-2E095884F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663B97-58A3-DA0D-7C78-1408453F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EC87-768E-497A-A882-3EBDFD4A52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0000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8E79D4-6730-DF05-D104-CCBF5BC70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395D73-FE5D-03A1-4EE3-F374AA834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D5AF45-B89C-0F7A-499A-A2140B520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70E2D-248F-4DBE-9B05-82CA75DD6E0D}" type="datetimeFigureOut">
              <a:rPr lang="es-CO" smtClean="0"/>
              <a:t>14/06/2025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607AE3-96E7-2A58-20DD-09D1C9695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E28FC4-5FA7-F7CA-9AF2-10E0671B8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1EEC87-768E-497A-A882-3EBDFD4A52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4271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tionalSecurityAgency/ghidra" TargetMode="External"/><Relationship Id="rId2" Type="http://schemas.openxmlformats.org/officeDocument/2006/relationships/hyperlink" Target="https://ghidra-sre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OWEZQMVLMPs&amp;t=1s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crackmes.one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du.anarcho-copy.org/other/Reverse%20Engineering/Learning_Malware_Analysis.pdf" TargetMode="External"/><Relationship Id="rId2" Type="http://schemas.openxmlformats.org/officeDocument/2006/relationships/hyperlink" Target="https://clearbluejar-github-io.translate.goog/posts/decompilation-debugging-pretending-all-binaries-come-with-source-code/?_x_tr_sl=en&amp;_x_tr_tl=es&amp;_x_tr_hl=es&amp;_x_tr_pto=t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3C724-C530-404D-3E6C-8EA750D68D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/>
              <a:t>Pila e introducción a </a:t>
            </a:r>
            <a:r>
              <a:rPr lang="es-MX" b="1" dirty="0" err="1"/>
              <a:t>Ghidra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AA4AE4-1209-6764-2965-AA7204E7B2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Parte 1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7747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301BB-26A4-DC5A-45B2-FC62E534A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Pila</a:t>
            </a:r>
            <a:endParaRPr lang="es-CO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ABF948-ABC8-D30D-F1F9-CCF67D51DC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54950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Guardar direcciones de retorno al llamar funciones.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Pasar argumentos a funciones.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Almacenar variables locales dentro de funciones.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Guardar registros para restaurarlos después (salvaguarda de contexto).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60A465-8C58-0282-3997-19D94EFAD46E}"/>
              </a:ext>
            </a:extLst>
          </p:cNvPr>
          <p:cNvSpPr txBox="1"/>
          <p:nvPr/>
        </p:nvSpPr>
        <p:spPr>
          <a:xfrm>
            <a:off x="838200" y="1571620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Es una estructura </a:t>
            </a: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LIFO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: el último que entra es el primero que sale.</a:t>
            </a:r>
          </a:p>
        </p:txBody>
      </p:sp>
    </p:spTree>
    <p:extLst>
      <p:ext uri="{BB962C8B-B14F-4D97-AF65-F5344CB8AC3E}">
        <p14:creationId xmlns:p14="http://schemas.microsoft.com/office/powerpoint/2010/main" val="427676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D22057-1CD3-4532-545C-09965708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Ejemplo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940725-D821-282B-B1D6-59142DF44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49" y="3093509"/>
            <a:ext cx="2129896" cy="206904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4E34B8-8123-589C-62A3-2647CDD3D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467" y="1042194"/>
            <a:ext cx="7027040" cy="1888067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E214273-699B-350E-671B-05C4705AFB32}"/>
              </a:ext>
            </a:extLst>
          </p:cNvPr>
          <p:cNvCxnSpPr/>
          <p:nvPr/>
        </p:nvCxnSpPr>
        <p:spPr>
          <a:xfrm flipH="1">
            <a:off x="2082800" y="2150533"/>
            <a:ext cx="1117600" cy="64346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4EA3069-D749-85A2-24EB-F1B373AD40BA}"/>
              </a:ext>
            </a:extLst>
          </p:cNvPr>
          <p:cNvCxnSpPr>
            <a:cxnSpLocks/>
          </p:cNvCxnSpPr>
          <p:nvPr/>
        </p:nvCxnSpPr>
        <p:spPr>
          <a:xfrm>
            <a:off x="2641600" y="3996266"/>
            <a:ext cx="7958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20F6EBA5-E07A-E09B-A526-5065A3C89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467" y="3093509"/>
            <a:ext cx="7027041" cy="305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3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728CF-429C-E9BC-BACB-0664245FE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795"/>
            <a:ext cx="10515600" cy="1325563"/>
          </a:xfrm>
        </p:spPr>
        <p:txBody>
          <a:bodyPr/>
          <a:lstStyle/>
          <a:p>
            <a:r>
              <a:rPr lang="es-MX" b="1" dirty="0"/>
              <a:t>Llamamiento a funciones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5F874C-AE66-BCAF-F72D-3FAD82E06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23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s-MX" b="1" dirty="0"/>
              <a:t>Sintaxis</a:t>
            </a:r>
          </a:p>
          <a:p>
            <a:pPr lvl="1" algn="just"/>
            <a:r>
              <a:rPr lang="es-MX" dirty="0" err="1"/>
              <a:t>Call</a:t>
            </a:r>
            <a:r>
              <a:rPr lang="es-MX" dirty="0"/>
              <a:t> &lt;</a:t>
            </a:r>
            <a:r>
              <a:rPr lang="es-MX" dirty="0" err="1"/>
              <a:t>nombre_de_la_funcion</a:t>
            </a:r>
            <a:r>
              <a:rPr lang="es-MX" dirty="0"/>
              <a:t>&gt;</a:t>
            </a:r>
          </a:p>
          <a:p>
            <a:pPr lvl="1" algn="just"/>
            <a:r>
              <a:rPr lang="es-MX" dirty="0"/>
              <a:t>Piense en &lt;</a:t>
            </a:r>
            <a:r>
              <a:rPr lang="es-MX" dirty="0" err="1"/>
              <a:t>nombre_de_la_funcion</a:t>
            </a:r>
            <a:r>
              <a:rPr lang="es-MX" dirty="0"/>
              <a:t>&gt; como una dirección que contiene un bloque de código</a:t>
            </a:r>
          </a:p>
          <a:p>
            <a:pPr lvl="1" algn="just"/>
            <a:r>
              <a:rPr lang="es-ES" dirty="0"/>
              <a:t>Pero antes de que transfiera el control a &lt;</a:t>
            </a:r>
            <a:r>
              <a:rPr lang="es-ES" dirty="0" err="1"/>
              <a:t>nombre_de_la_funcion</a:t>
            </a:r>
            <a:r>
              <a:rPr lang="es-ES" dirty="0"/>
              <a:t>&gt;, se almacena la dirección de la siguiente instrucción (la instrucción que sigue a la llamada &lt;</a:t>
            </a:r>
            <a:r>
              <a:rPr lang="es-ES" dirty="0" err="1"/>
              <a:t>nombre_de_la_funcion</a:t>
            </a:r>
            <a:r>
              <a:rPr lang="es-ES" dirty="0"/>
              <a:t>&gt;) insertándola en la pila. La dirección que sigue a la llamada que se inserta en la pila se denomina dirección de retorno</a:t>
            </a:r>
          </a:p>
          <a:p>
            <a:pPr lvl="1" algn="just"/>
            <a:r>
              <a:rPr lang="es-MX" dirty="0"/>
              <a:t>Una vez que &lt;</a:t>
            </a:r>
            <a:r>
              <a:rPr lang="es-MX" dirty="0" err="1"/>
              <a:t>nombre_de_la_funcion</a:t>
            </a:r>
            <a:r>
              <a:rPr lang="es-MX" dirty="0"/>
              <a:t>&gt; termina de ejecutarse, la dirección de retorno que estaba almacenada en la pila se extrae de la pila y la ejecución continúa desde la dirección extraída.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A39BB69-8A23-AAD0-BB50-35B1F363392E}"/>
              </a:ext>
            </a:extLst>
          </p:cNvPr>
          <p:cNvSpPr txBox="1"/>
          <p:nvPr/>
        </p:nvSpPr>
        <p:spPr>
          <a:xfrm>
            <a:off x="838200" y="4984449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2400" dirty="0">
                <a:cs typeface="Arial" panose="020B0604020202020204" pitchFamily="34" charset="0"/>
              </a:rPr>
              <a:t>En lenguaje ensamblador, para retornar de una función, se usa la instrucción </a:t>
            </a:r>
            <a:r>
              <a:rPr lang="es-MX" sz="2400" b="1" i="1" dirty="0" err="1">
                <a:cs typeface="Arial" panose="020B0604020202020204" pitchFamily="34" charset="0"/>
              </a:rPr>
              <a:t>ret</a:t>
            </a:r>
            <a:r>
              <a:rPr lang="es-MX" sz="2400" b="1" i="1" dirty="0">
                <a:cs typeface="Arial" panose="020B0604020202020204" pitchFamily="34" charset="0"/>
              </a:rPr>
              <a:t>. </a:t>
            </a:r>
            <a:r>
              <a:rPr lang="es-MX" sz="2400" dirty="0">
                <a:cs typeface="Arial" panose="020B0604020202020204" pitchFamily="34" charset="0"/>
              </a:rPr>
              <a:t>Esta instrucción saca la dirección de la cima del </a:t>
            </a:r>
            <a:r>
              <a:rPr lang="es-MX" sz="2400" dirty="0" err="1">
                <a:cs typeface="Arial" panose="020B0604020202020204" pitchFamily="34" charset="0"/>
              </a:rPr>
              <a:t>stack</a:t>
            </a:r>
            <a:r>
              <a:rPr lang="es-MX" sz="2400" dirty="0">
                <a:cs typeface="Arial" panose="020B0604020202020204" pitchFamily="34" charset="0"/>
              </a:rPr>
              <a:t> y la dirección que se saca se pone en el registro </a:t>
            </a:r>
            <a:r>
              <a:rPr lang="es-MX" sz="2400" dirty="0" err="1">
                <a:cs typeface="Arial" panose="020B0604020202020204" pitchFamily="34" charset="0"/>
              </a:rPr>
              <a:t>eip</a:t>
            </a:r>
            <a:r>
              <a:rPr lang="es-MX" sz="2400" dirty="0">
                <a:cs typeface="Arial" panose="020B0604020202020204" pitchFamily="34" charset="0"/>
              </a:rPr>
              <a:t>; luego se transfiere el control a la dirección que se sacó.</a:t>
            </a:r>
            <a:endParaRPr lang="es-CO" sz="24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961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EB3BC-0279-EF00-232A-FA7FF243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Punteros importantes en la pila</a:t>
            </a:r>
            <a:endParaRPr lang="es-CO" b="1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0ABF23F-51FA-3C5A-C824-5187DE636C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884994"/>
              </p:ext>
            </p:extLst>
          </p:nvPr>
        </p:nvGraphicFramePr>
        <p:xfrm>
          <a:off x="838200" y="1825625"/>
          <a:ext cx="10515597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43653267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407938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88616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Registro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Nombre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Descripción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936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ESP</a:t>
                      </a:r>
                      <a:endParaRPr lang="es-CO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 err="1"/>
                        <a:t>Stack</a:t>
                      </a:r>
                      <a:r>
                        <a:rPr lang="es-MX" sz="2800" dirty="0"/>
                        <a:t> Pointer (Puntero de pila)</a:t>
                      </a:r>
                      <a:endParaRPr lang="es-CO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Apunta a la cima de la pila</a:t>
                      </a:r>
                      <a:endParaRPr lang="es-CO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5323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EBP</a:t>
                      </a:r>
                      <a:endParaRPr lang="es-CO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Base Pointer (Puntero base)</a:t>
                      </a:r>
                      <a:endParaRPr lang="es-CO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/>
                        <a:t>Usado para referenciar variables locales o argumentos pasados a funciones</a:t>
                      </a:r>
                      <a:endParaRPr lang="es-CO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27394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A3E9F123-782B-B3C6-C14D-5A87CFA77526}"/>
              </a:ext>
            </a:extLst>
          </p:cNvPr>
          <p:cNvSpPr txBox="1"/>
          <p:nvPr/>
        </p:nvSpPr>
        <p:spPr>
          <a:xfrm>
            <a:off x="838200" y="5435600"/>
            <a:ext cx="1008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*** Para x86 de 64 bits se usan RSP y RBP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02270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7DA43-34BA-4A31-C378-489271A7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MX" b="1" dirty="0"/>
              <a:t>Parámetros de funciones y valores de retorno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A3686F-F022-0B5A-7B7F-F1B706125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En la arquitectura x86, los parámetros que acepta una función se introducen en la pila y el valor de retorno se coloca en el registro </a:t>
            </a:r>
            <a:r>
              <a:rPr lang="es-MX" dirty="0" err="1"/>
              <a:t>eax</a:t>
            </a:r>
            <a:r>
              <a:rPr lang="es-MX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52990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40C7D-3D0E-E51E-BC4C-D963E6F74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096" y="276047"/>
            <a:ext cx="10515600" cy="1325563"/>
          </a:xfrm>
        </p:spPr>
        <p:txBody>
          <a:bodyPr/>
          <a:lstStyle/>
          <a:p>
            <a:r>
              <a:rPr lang="es-MX" b="1" dirty="0"/>
              <a:t>Ejemplo</a:t>
            </a:r>
            <a:endParaRPr lang="es-C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70BB620-4970-FD90-ABD3-1B023571A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666" y="1554986"/>
            <a:ext cx="3564467" cy="33211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BA82400-12C1-89F3-09D1-17100CED5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6" y="4876096"/>
            <a:ext cx="2796792" cy="132556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D895D7B-76BE-295B-3236-DE8B59A11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61" y="4490256"/>
            <a:ext cx="7095305" cy="1214063"/>
          </a:xfrm>
          <a:prstGeom prst="rect">
            <a:avLst/>
          </a:prstGeom>
        </p:spPr>
      </p:pic>
      <p:sp>
        <p:nvSpPr>
          <p:cNvPr id="12" name="Cerrar llave 11">
            <a:extLst>
              <a:ext uri="{FF2B5EF4-FFF2-40B4-BE49-F238E27FC236}">
                <a16:creationId xmlns:a16="http://schemas.microsoft.com/office/drawing/2014/main" id="{C2E46E7F-497E-07B4-8483-ECCE4F7EF61D}"/>
              </a:ext>
            </a:extLst>
          </p:cNvPr>
          <p:cNvSpPr/>
          <p:nvPr/>
        </p:nvSpPr>
        <p:spPr>
          <a:xfrm>
            <a:off x="3370553" y="3992917"/>
            <a:ext cx="609600" cy="220874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E369F9EE-3A03-66E4-0A5E-2FF40800FC77}"/>
              </a:ext>
            </a:extLst>
          </p:cNvPr>
          <p:cNvSpPr/>
          <p:nvPr/>
        </p:nvSpPr>
        <p:spPr>
          <a:xfrm>
            <a:off x="3980153" y="1554986"/>
            <a:ext cx="609600" cy="220874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CA616FF-0933-8B9E-63E4-A358C390C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530" y="996184"/>
            <a:ext cx="2782940" cy="313080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8C2881F7-0D77-E9B6-7A3E-8F6654F9EE74}"/>
              </a:ext>
            </a:extLst>
          </p:cNvPr>
          <p:cNvSpPr txBox="1"/>
          <p:nvPr/>
        </p:nvSpPr>
        <p:spPr>
          <a:xfrm>
            <a:off x="4589753" y="711409"/>
            <a:ext cx="2588287" cy="930146"/>
          </a:xfrm>
          <a:prstGeom prst="rect">
            <a:avLst/>
          </a:prstGeom>
          <a:noFill/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s-CO" dirty="0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D334716-CA4B-484E-0B6C-334CCFC16902}"/>
              </a:ext>
            </a:extLst>
          </p:cNvPr>
          <p:cNvCxnSpPr/>
          <p:nvPr/>
        </p:nvCxnSpPr>
        <p:spPr>
          <a:xfrm flipV="1">
            <a:off x="7178040" y="996184"/>
            <a:ext cx="731520" cy="317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41D14CD-0827-0EDF-66F5-70102B5232F8}"/>
              </a:ext>
            </a:extLst>
          </p:cNvPr>
          <p:cNvSpPr txBox="1"/>
          <p:nvPr/>
        </p:nvSpPr>
        <p:spPr>
          <a:xfrm>
            <a:off x="8067224" y="784349"/>
            <a:ext cx="2980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/>
              <a:t>Prólogo de la función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- Configuran el entorno de la función</a:t>
            </a:r>
            <a:endParaRPr lang="es-CO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2A84190-8CED-C1F2-A932-8A4EB45BA300}"/>
              </a:ext>
            </a:extLst>
          </p:cNvPr>
          <p:cNvSpPr txBox="1"/>
          <p:nvPr/>
        </p:nvSpPr>
        <p:spPr>
          <a:xfrm>
            <a:off x="4683322" y="3262165"/>
            <a:ext cx="2494717" cy="565309"/>
          </a:xfrm>
          <a:prstGeom prst="rect">
            <a:avLst/>
          </a:prstGeom>
          <a:noFill/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s-CO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3CA5943-24E6-8798-2E9F-533DDA0B2281}"/>
              </a:ext>
            </a:extLst>
          </p:cNvPr>
          <p:cNvCxnSpPr/>
          <p:nvPr/>
        </p:nvCxnSpPr>
        <p:spPr>
          <a:xfrm flipV="1">
            <a:off x="7183558" y="3413139"/>
            <a:ext cx="731520" cy="317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B518067-AC2F-EECA-EB83-A8ABA1AD625E}"/>
              </a:ext>
            </a:extLst>
          </p:cNvPr>
          <p:cNvSpPr txBox="1"/>
          <p:nvPr/>
        </p:nvSpPr>
        <p:spPr>
          <a:xfrm>
            <a:off x="7915078" y="2995937"/>
            <a:ext cx="34799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/>
              <a:t>Epílogo de la función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- Restauran el entorno después de que la función ha sido ejecutada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7770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F653170-2D25-5310-2817-59BFA46F0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866" y="1886744"/>
            <a:ext cx="11032067" cy="2211124"/>
          </a:xfrm>
        </p:spPr>
      </p:pic>
    </p:spTree>
    <p:extLst>
      <p:ext uri="{BB962C8B-B14F-4D97-AF65-F5344CB8AC3E}">
        <p14:creationId xmlns:p14="http://schemas.microsoft.com/office/powerpoint/2010/main" val="432193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76380-C8A8-539D-7C04-A953F266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Ejemplo</a:t>
            </a:r>
            <a:endParaRPr lang="es-C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4E8A86D-5EBD-CA2F-B0BA-2D2442CAC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6" y="1554986"/>
            <a:ext cx="3564467" cy="33211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BA102F4-A002-176C-A98F-2908F3BC2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6" y="4876096"/>
            <a:ext cx="2796792" cy="132556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8824114-B5AC-5D7C-FD93-68537200A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153" y="4490256"/>
            <a:ext cx="8015759" cy="1371560"/>
          </a:xfrm>
          <a:prstGeom prst="rect">
            <a:avLst/>
          </a:prstGeom>
        </p:spPr>
      </p:pic>
      <p:sp>
        <p:nvSpPr>
          <p:cNvPr id="8" name="Cerrar llave 7">
            <a:extLst>
              <a:ext uri="{FF2B5EF4-FFF2-40B4-BE49-F238E27FC236}">
                <a16:creationId xmlns:a16="http://schemas.microsoft.com/office/drawing/2014/main" id="{08AD541B-C88F-6E31-5333-9F7BC61B74B0}"/>
              </a:ext>
            </a:extLst>
          </p:cNvPr>
          <p:cNvSpPr/>
          <p:nvPr/>
        </p:nvSpPr>
        <p:spPr>
          <a:xfrm>
            <a:off x="3370553" y="3992917"/>
            <a:ext cx="609600" cy="220874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errar llave 8">
            <a:extLst>
              <a:ext uri="{FF2B5EF4-FFF2-40B4-BE49-F238E27FC236}">
                <a16:creationId xmlns:a16="http://schemas.microsoft.com/office/drawing/2014/main" id="{990465F2-2EA1-E2D1-F676-53675CF27ED1}"/>
              </a:ext>
            </a:extLst>
          </p:cNvPr>
          <p:cNvSpPr/>
          <p:nvPr/>
        </p:nvSpPr>
        <p:spPr>
          <a:xfrm>
            <a:off x="3980153" y="1554986"/>
            <a:ext cx="609600" cy="220874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3F8CA8D-74FB-B4A7-C456-ED10E950C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571" y="1186673"/>
            <a:ext cx="2782940" cy="313080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E68E773-38BE-89E1-B9BC-A8910DB404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5953" y="2195127"/>
            <a:ext cx="4979959" cy="220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9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0D97E4-96AA-1562-048C-95CC4F996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***Convención de llamadas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C29E62-B722-208F-064E-4F31EADD1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94683"/>
          </a:xfrm>
        </p:spPr>
        <p:txBody>
          <a:bodyPr/>
          <a:lstStyle/>
          <a:p>
            <a:r>
              <a:rPr lang="es-MX" dirty="0"/>
              <a:t>Acuerdos sobre </a:t>
            </a:r>
            <a:r>
              <a:rPr lang="es-MX" b="1" dirty="0"/>
              <a:t>cómo se manejan las funciones</a:t>
            </a:r>
            <a:r>
              <a:rPr lang="es-MX" dirty="0"/>
              <a:t> en un programa compilado:</a:t>
            </a:r>
          </a:p>
          <a:p>
            <a:pPr lvl="1"/>
            <a:r>
              <a:rPr lang="es-MX" dirty="0"/>
              <a:t>Cómo se pasan argumentos</a:t>
            </a:r>
          </a:p>
          <a:p>
            <a:pPr lvl="1"/>
            <a:r>
              <a:rPr lang="es-MX" dirty="0"/>
              <a:t>Dónde se coloca el valor de retorno</a:t>
            </a:r>
          </a:p>
          <a:p>
            <a:pPr lvl="1"/>
            <a:r>
              <a:rPr lang="es-MX" dirty="0"/>
              <a:t>Quién es responsable de limpiar la pila	</a:t>
            </a:r>
          </a:p>
          <a:p>
            <a:pPr marL="457200" lvl="1" indent="0">
              <a:buNone/>
            </a:pP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A78006B-717E-7E9D-2684-1DAD728C4FFD}"/>
              </a:ext>
            </a:extLst>
          </p:cNvPr>
          <p:cNvSpPr txBox="1"/>
          <p:nvPr/>
        </p:nvSpPr>
        <p:spPr>
          <a:xfrm>
            <a:off x="4736123" y="3429000"/>
            <a:ext cx="2227385" cy="1236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492F526-95FE-E663-23E4-D2FB7F01C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271" y="4355245"/>
            <a:ext cx="7286625" cy="1704975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D846185-2D01-1765-9D62-5E79067E47BE}"/>
              </a:ext>
            </a:extLst>
          </p:cNvPr>
          <p:cNvSpPr/>
          <p:nvPr/>
        </p:nvSpPr>
        <p:spPr>
          <a:xfrm>
            <a:off x="1078523" y="4220308"/>
            <a:ext cx="7535373" cy="2048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22F7719-F1D8-188E-CCC4-7546009911B6}"/>
              </a:ext>
            </a:extLst>
          </p:cNvPr>
          <p:cNvCxnSpPr/>
          <p:nvPr/>
        </p:nvCxnSpPr>
        <p:spPr>
          <a:xfrm flipH="1">
            <a:off x="8299938" y="3429000"/>
            <a:ext cx="1101970" cy="791308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565B84F-39B2-A954-EA10-F8DEE8997295}"/>
              </a:ext>
            </a:extLst>
          </p:cNvPr>
          <p:cNvSpPr txBox="1"/>
          <p:nvPr/>
        </p:nvSpPr>
        <p:spPr>
          <a:xfrm>
            <a:off x="9401907" y="3022966"/>
            <a:ext cx="1459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Errores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071296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117BB-821A-4593-406D-91FB80900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Convención de llamadas: </a:t>
            </a:r>
            <a:r>
              <a:rPr lang="es-MX" b="1" dirty="0" err="1"/>
              <a:t>cdecl</a:t>
            </a: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6F82B9D-2E58-24BA-1AEC-61ED90C50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46112"/>
            <a:ext cx="3794760" cy="1800651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A1DA120-4671-C3ED-3222-29B387415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279" y="2353681"/>
            <a:ext cx="5000625" cy="15848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C876AE5-59C3-E420-ADFC-583C262E4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279" y="3834347"/>
            <a:ext cx="500062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5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74139-A1A0-D556-B604-77BA84E39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Convención de llamadas: </a:t>
            </a:r>
            <a:r>
              <a:rPr lang="es-MX" b="1" dirty="0" err="1"/>
              <a:t>stdcall</a:t>
            </a: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E3EC60F-4A64-673A-AF51-F091F7296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3415" y="2162441"/>
            <a:ext cx="5425169" cy="1054894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151907C-82FB-32B5-9268-D8FDACA98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415" y="3217335"/>
            <a:ext cx="5425169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961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56312-A4E7-12D6-8A80-63EF0C835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969"/>
            <a:ext cx="10515600" cy="1325563"/>
          </a:xfrm>
        </p:spPr>
        <p:txBody>
          <a:bodyPr/>
          <a:lstStyle/>
          <a:p>
            <a:r>
              <a:rPr lang="es-MX" b="1" dirty="0"/>
              <a:t>Convención de llamadas: </a:t>
            </a:r>
            <a:r>
              <a:rPr lang="es-MX" b="1" dirty="0" err="1"/>
              <a:t>fastcall</a:t>
            </a: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E1240DC-F1EE-0C8D-DC19-D64FC6D92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5593" y="1277939"/>
            <a:ext cx="7560813" cy="1738312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B846B1D-AFC3-979F-6325-C10692B3D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593" y="2960688"/>
            <a:ext cx="7560813" cy="318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94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6F408-A0F3-EA30-0484-688BB04CF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Convención de llamadas</a:t>
            </a:r>
            <a:endParaRPr lang="es-CO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24C52F6-1DD0-ABF0-D044-B15A4CFD09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7459173"/>
              </p:ext>
            </p:extLst>
          </p:nvPr>
        </p:nvGraphicFramePr>
        <p:xfrm>
          <a:off x="838200" y="1825625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610328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903606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5710522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84869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Convención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¿Quién limpia la pila?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¿Cómo se pasan los argumentos?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¿Retorno?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101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cdecl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El “</a:t>
                      </a:r>
                      <a:r>
                        <a:rPr lang="es-MX" dirty="0" err="1"/>
                        <a:t>caller</a:t>
                      </a:r>
                      <a:r>
                        <a:rPr lang="es-MX" dirty="0"/>
                        <a:t>” (</a:t>
                      </a:r>
                      <a:r>
                        <a:rPr lang="es-MX" dirty="0" err="1"/>
                        <a:t>add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esp</a:t>
                      </a:r>
                      <a:r>
                        <a:rPr lang="es-MX" dirty="0"/>
                        <a:t>, N)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Se pasan en la pila, de derecha a izquierda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En </a:t>
                      </a:r>
                      <a:r>
                        <a:rPr lang="es-MX" dirty="0" err="1"/>
                        <a:t>eax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164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stdcall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La función llamada (</a:t>
                      </a:r>
                      <a:r>
                        <a:rPr lang="es-MX" dirty="0" err="1"/>
                        <a:t>ret</a:t>
                      </a:r>
                      <a:r>
                        <a:rPr lang="es-MX" dirty="0"/>
                        <a:t> N)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Igual que </a:t>
                      </a:r>
                      <a:r>
                        <a:rPr lang="es-MX" dirty="0" err="1"/>
                        <a:t>cdecl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En </a:t>
                      </a:r>
                      <a:r>
                        <a:rPr lang="es-MX" dirty="0" err="1"/>
                        <a:t>eax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664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fastcall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Algunos argumentos en registros (</a:t>
                      </a:r>
                      <a:r>
                        <a:rPr lang="es-MX" dirty="0" err="1"/>
                        <a:t>ecx</a:t>
                      </a:r>
                      <a:r>
                        <a:rPr lang="es-MX" dirty="0"/>
                        <a:t>, </a:t>
                      </a:r>
                      <a:r>
                        <a:rPr lang="es-MX" dirty="0" err="1"/>
                        <a:t>edx</a:t>
                      </a:r>
                      <a:r>
                        <a:rPr lang="es-MX" dirty="0"/>
                        <a:t>)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Otros en la pila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En </a:t>
                      </a:r>
                      <a:r>
                        <a:rPr lang="es-MX" dirty="0" err="1"/>
                        <a:t>eax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835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200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C600AA88-2959-A408-A119-C1079010E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/>
              <a:t>Volviendo al ejemplo de test…</a:t>
            </a:r>
            <a:endParaRPr lang="es-CO" dirty="0"/>
          </a:p>
        </p:txBody>
      </p:sp>
      <p:pic>
        <p:nvPicPr>
          <p:cNvPr id="13" name="Marcador de contenido 4">
            <a:extLst>
              <a:ext uri="{FF2B5EF4-FFF2-40B4-BE49-F238E27FC236}">
                <a16:creationId xmlns:a16="http://schemas.microsoft.com/office/drawing/2014/main" id="{72ABF580-87BB-D54B-8C8A-35C9C9B8E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6" y="1554986"/>
            <a:ext cx="3564467" cy="332111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2003320-D768-2E62-FBCE-086ED42FA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6" y="4876096"/>
            <a:ext cx="2796792" cy="132556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9608E64-14B8-D73E-DEE0-D2B74949B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153" y="4490256"/>
            <a:ext cx="8015759" cy="1371560"/>
          </a:xfrm>
          <a:prstGeom prst="rect">
            <a:avLst/>
          </a:prstGeom>
        </p:spPr>
      </p:pic>
      <p:sp>
        <p:nvSpPr>
          <p:cNvPr id="16" name="Cerrar llave 15">
            <a:extLst>
              <a:ext uri="{FF2B5EF4-FFF2-40B4-BE49-F238E27FC236}">
                <a16:creationId xmlns:a16="http://schemas.microsoft.com/office/drawing/2014/main" id="{F14D4325-C272-3DCE-7A9A-C43EEA324FCC}"/>
              </a:ext>
            </a:extLst>
          </p:cNvPr>
          <p:cNvSpPr/>
          <p:nvPr/>
        </p:nvSpPr>
        <p:spPr>
          <a:xfrm>
            <a:off x="3370553" y="3992917"/>
            <a:ext cx="609600" cy="220874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2F6DC831-D2A9-4588-39CA-158CA999F4C3}"/>
              </a:ext>
            </a:extLst>
          </p:cNvPr>
          <p:cNvSpPr/>
          <p:nvPr/>
        </p:nvSpPr>
        <p:spPr>
          <a:xfrm>
            <a:off x="3980153" y="1554986"/>
            <a:ext cx="609600" cy="220874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5FD72BD-E08F-ADCE-AA2A-E2AE2C066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571" y="1186673"/>
            <a:ext cx="2782940" cy="313080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519BE7E-1DB1-D5A7-EF13-5C8EE3BA82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7511" y="1719325"/>
            <a:ext cx="469582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27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E159DDE-0BD1-3BF1-91E9-6B54945E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b="1" dirty="0"/>
              <a:t>Ejemplo</a:t>
            </a:r>
            <a:endParaRPr lang="es-C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D30F838-7DDB-4820-7284-025841C2E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6" y="1554986"/>
            <a:ext cx="3564467" cy="33211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44BC275-AFC3-D9D1-DE6E-33D49396A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6" y="4876096"/>
            <a:ext cx="2796792" cy="132556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AF43DDB-2C66-52A0-610B-96B477134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153" y="4490256"/>
            <a:ext cx="8015759" cy="1371560"/>
          </a:xfrm>
          <a:prstGeom prst="rect">
            <a:avLst/>
          </a:prstGeom>
        </p:spPr>
      </p:pic>
      <p:sp>
        <p:nvSpPr>
          <p:cNvPr id="8" name="Cerrar llave 7">
            <a:extLst>
              <a:ext uri="{FF2B5EF4-FFF2-40B4-BE49-F238E27FC236}">
                <a16:creationId xmlns:a16="http://schemas.microsoft.com/office/drawing/2014/main" id="{296BF432-8354-350B-77FF-CF3A3401DD6B}"/>
              </a:ext>
            </a:extLst>
          </p:cNvPr>
          <p:cNvSpPr/>
          <p:nvPr/>
        </p:nvSpPr>
        <p:spPr>
          <a:xfrm>
            <a:off x="3370553" y="3992917"/>
            <a:ext cx="609600" cy="220874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errar llave 8">
            <a:extLst>
              <a:ext uri="{FF2B5EF4-FFF2-40B4-BE49-F238E27FC236}">
                <a16:creationId xmlns:a16="http://schemas.microsoft.com/office/drawing/2014/main" id="{229029A9-5F4A-6411-6340-E5CC35CFB94D}"/>
              </a:ext>
            </a:extLst>
          </p:cNvPr>
          <p:cNvSpPr/>
          <p:nvPr/>
        </p:nvSpPr>
        <p:spPr>
          <a:xfrm>
            <a:off x="3980153" y="1554986"/>
            <a:ext cx="609600" cy="220874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2C18CA1-24B5-D623-394B-A9A69E884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571" y="1186673"/>
            <a:ext cx="2782940" cy="313080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84C5C09-D693-351B-C54A-A750CBA8F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737" y="160481"/>
            <a:ext cx="48291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05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66F41-0848-13E3-0BB6-B2675D7BD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30" y="162850"/>
            <a:ext cx="10515600" cy="1325563"/>
          </a:xfrm>
        </p:spPr>
        <p:txBody>
          <a:bodyPr/>
          <a:lstStyle/>
          <a:p>
            <a:r>
              <a:rPr lang="es-MX" b="1" dirty="0"/>
              <a:t>Ejemplo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F4139BD-ECF5-B980-C5D0-6B9B5D337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30" y="1479002"/>
            <a:ext cx="4131733" cy="410516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9C89672-FDC5-BEBE-11A1-527108BBB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2599400"/>
            <a:ext cx="7517870" cy="4095750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78970213-C7FB-B904-9608-056DCB9A7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958121"/>
              </p:ext>
            </p:extLst>
          </p:nvPr>
        </p:nvGraphicFramePr>
        <p:xfrm>
          <a:off x="7856539" y="426270"/>
          <a:ext cx="242146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1466">
                  <a:extLst>
                    <a:ext uri="{9D8B030D-6E8A-4147-A177-3AD203B41FA5}">
                      <a16:colId xmlns:a16="http://schemas.microsoft.com/office/drawing/2014/main" val="3433277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[EBP+12]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99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[EBP+8]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42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[EBP]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801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[ESP]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44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051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B7475-22FA-05C8-6623-309A1D62E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Reto de desensamblado</a:t>
            </a:r>
            <a:endParaRPr lang="es-CO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AF13916-AE7A-D525-4661-BA08B191E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365125"/>
            <a:ext cx="34671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21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B4D44-1F1D-A75F-1F0F-F4501DFEE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 err="1"/>
              <a:t>Decompilador</a:t>
            </a:r>
            <a:r>
              <a:rPr lang="es-MX" b="1" dirty="0"/>
              <a:t>, depurador, desensamblador, editores hexadecimales</a:t>
            </a:r>
            <a:endParaRPr lang="es-CO" b="1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D1E8893-68B9-E302-6751-569E3F096D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1246569"/>
              </p:ext>
            </p:extLst>
          </p:nvPr>
        </p:nvGraphicFramePr>
        <p:xfrm>
          <a:off x="838200" y="2079625"/>
          <a:ext cx="1008770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354">
                  <a:extLst>
                    <a:ext uri="{9D8B030D-6E8A-4147-A177-3AD203B41FA5}">
                      <a16:colId xmlns:a16="http://schemas.microsoft.com/office/drawing/2014/main" val="143219709"/>
                    </a:ext>
                  </a:extLst>
                </a:gridCol>
                <a:gridCol w="2119892">
                  <a:extLst>
                    <a:ext uri="{9D8B030D-6E8A-4147-A177-3AD203B41FA5}">
                      <a16:colId xmlns:a16="http://schemas.microsoft.com/office/drawing/2014/main" val="1208430444"/>
                    </a:ext>
                  </a:extLst>
                </a:gridCol>
                <a:gridCol w="2890731">
                  <a:extLst>
                    <a:ext uri="{9D8B030D-6E8A-4147-A177-3AD203B41FA5}">
                      <a16:colId xmlns:a16="http://schemas.microsoft.com/office/drawing/2014/main" val="4078527092"/>
                    </a:ext>
                  </a:extLst>
                </a:gridCol>
                <a:gridCol w="2890731">
                  <a:extLst>
                    <a:ext uri="{9D8B030D-6E8A-4147-A177-3AD203B41FA5}">
                      <a16:colId xmlns:a16="http://schemas.microsoft.com/office/drawing/2014/main" val="14324370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MX" dirty="0" err="1"/>
                        <a:t>Decompilador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dirty="0"/>
                        <a:t>Depurador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dirty="0"/>
                        <a:t>Desensamblador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dirty="0"/>
                        <a:t>Editor hexadecimal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600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>
                          <a:effectLst/>
                        </a:rPr>
                        <a:t>Los </a:t>
                      </a:r>
                      <a:r>
                        <a:rPr lang="es-MX" b="1" dirty="0" err="1">
                          <a:effectLst/>
                        </a:rPr>
                        <a:t>decompiladores</a:t>
                      </a:r>
                      <a:r>
                        <a:rPr lang="es-MX" dirty="0">
                          <a:effectLst/>
                        </a:rPr>
                        <a:t> revierten los binarios en lenguajes de nivel superior, como C++.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>
                          <a:effectLst/>
                        </a:rPr>
                        <a:t>Los depuradores</a:t>
                      </a:r>
                      <a:r>
                        <a:rPr lang="es-MX" dirty="0">
                          <a:effectLst/>
                        </a:rPr>
                        <a:t> le permiten ver y cambiar el estado de un programa en ejecución.</a:t>
                      </a:r>
                      <a:endParaRPr lang="es-MX" dirty="0"/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>
                          <a:effectLst/>
                        </a:rPr>
                        <a:t>Los desensambladores</a:t>
                      </a:r>
                      <a:r>
                        <a:rPr lang="es-MX" dirty="0">
                          <a:effectLst/>
                        </a:rPr>
                        <a:t> invierten los binarios en lenguaje ensamblador.</a:t>
                      </a:r>
                      <a:endParaRPr lang="es-MX" dirty="0"/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b="1" dirty="0">
                          <a:effectLst/>
                        </a:rPr>
                        <a:t>Los editores hexadecimales</a:t>
                      </a:r>
                      <a:r>
                        <a:rPr lang="es-MX" dirty="0">
                          <a:effectLst/>
                        </a:rPr>
                        <a:t> le permiten ver y editar el contenido de un binario.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069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015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1B4B4-EFFE-7E57-5D72-DD3677A0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Ghidra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50F208-BE2A-1BD3-552F-B68E31FEF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26593" cy="1325563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Entorno para Software Reverse </a:t>
            </a:r>
            <a:r>
              <a:rPr lang="es-MX" dirty="0" err="1"/>
              <a:t>Engineering</a:t>
            </a:r>
            <a:r>
              <a:rPr lang="es-MX" dirty="0"/>
              <a:t> (SRE)</a:t>
            </a:r>
          </a:p>
          <a:p>
            <a:pPr lvl="1"/>
            <a:r>
              <a:rPr lang="es-MX" dirty="0"/>
              <a:t>Desarrollo en Java (necesita JDK &gt;= 21)</a:t>
            </a:r>
          </a:p>
          <a:p>
            <a:pPr lvl="1"/>
            <a:r>
              <a:rPr lang="es-MX" dirty="0"/>
              <a:t>Multiplataforma (Windows, MacOS X, Linux)</a:t>
            </a:r>
          </a:p>
          <a:p>
            <a:pPr lvl="1"/>
            <a:endParaRPr lang="es-CO" dirty="0"/>
          </a:p>
          <a:p>
            <a:pPr marL="457200" lvl="1" indent="0">
              <a:buNone/>
            </a:pP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24BEC4C-6625-894F-6396-74A74F323DE5}"/>
              </a:ext>
            </a:extLst>
          </p:cNvPr>
          <p:cNvSpPr txBox="1"/>
          <p:nvPr/>
        </p:nvSpPr>
        <p:spPr>
          <a:xfrm>
            <a:off x="838200" y="3151188"/>
            <a:ext cx="69265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/>
              <a:t>Código abierto, liberado en conferencia RSA 2019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400" dirty="0"/>
              <a:t>Desarrollado por la NSA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400" dirty="0"/>
              <a:t>Licencia Apache 2.0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400" dirty="0"/>
              <a:t>+1.2M SLOC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400" dirty="0"/>
              <a:t>La historia de la herramienta no se conoce, pero comentarios del código la datan en febrero 1999</a:t>
            </a:r>
            <a:endParaRPr lang="es-CO" sz="2400" dirty="0"/>
          </a:p>
        </p:txBody>
      </p:sp>
      <p:pic>
        <p:nvPicPr>
          <p:cNvPr id="6" name="Imagen 5" descr="Logotipo&#10;&#10;El contenido generado por IA puede ser incorrecto.">
            <a:extLst>
              <a:ext uri="{FF2B5EF4-FFF2-40B4-BE49-F238E27FC236}">
                <a16:creationId xmlns:a16="http://schemas.microsoft.com/office/drawing/2014/main" id="{D6D2E5DA-4DE2-8EB9-A8EF-97D283FD1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246" y="602181"/>
            <a:ext cx="4223438" cy="2311951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97669BA-2E9D-8E3B-64A2-9103B1FA8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1744" y="3151188"/>
            <a:ext cx="3046988" cy="30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7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B1D02-09F7-4624-848F-1F794CDA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Características de </a:t>
            </a:r>
            <a:r>
              <a:rPr lang="es-MX" b="1" dirty="0" err="1"/>
              <a:t>Ghidra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8BC3D1-B4B5-3B69-4127-DAF79CB26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68146"/>
          </a:xfrm>
        </p:spPr>
        <p:txBody>
          <a:bodyPr>
            <a:normAutofit/>
          </a:bodyPr>
          <a:lstStyle/>
          <a:p>
            <a:r>
              <a:rPr lang="es-MX" sz="2400" dirty="0"/>
              <a:t>Aproximaciones en el análisis de un programa binario</a:t>
            </a:r>
          </a:p>
          <a:p>
            <a:pPr lvl="1"/>
            <a:r>
              <a:rPr lang="es-MX" b="1" dirty="0"/>
              <a:t>Análisis estático: </a:t>
            </a:r>
            <a:r>
              <a:rPr lang="es-MX" dirty="0"/>
              <a:t>Código muerto /análisis frío (</a:t>
            </a:r>
            <a:r>
              <a:rPr lang="es-MX" dirty="0" err="1"/>
              <a:t>desemsablador</a:t>
            </a:r>
            <a:r>
              <a:rPr lang="es-MX" dirty="0"/>
              <a:t>)</a:t>
            </a:r>
          </a:p>
          <a:p>
            <a:pPr lvl="2"/>
            <a:r>
              <a:rPr lang="es-MX" sz="2400" dirty="0"/>
              <a:t>El código binario no se ejecuta</a:t>
            </a:r>
          </a:p>
          <a:p>
            <a:pPr lvl="2"/>
            <a:r>
              <a:rPr lang="es-MX" sz="2400" dirty="0"/>
              <a:t>Se analiza la estructura del código, con todos los posibles caminos de ejecución</a:t>
            </a:r>
          </a:p>
          <a:p>
            <a:pPr lvl="2"/>
            <a:r>
              <a:rPr lang="es-MX" sz="2400" b="1" dirty="0"/>
              <a:t>PROBLEMA</a:t>
            </a:r>
            <a:r>
              <a:rPr lang="es-MX" sz="2400" dirty="0"/>
              <a:t>: Explosión de estados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313017-28FF-CC98-3092-E2626C1148EE}"/>
              </a:ext>
            </a:extLst>
          </p:cNvPr>
          <p:cNvSpPr txBox="1"/>
          <p:nvPr/>
        </p:nvSpPr>
        <p:spPr>
          <a:xfrm>
            <a:off x="1349830" y="4173536"/>
            <a:ext cx="93617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dirty="0"/>
              <a:t>Análisis dinámico: </a:t>
            </a:r>
            <a:r>
              <a:rPr lang="es-MX" sz="2400" dirty="0"/>
              <a:t>Código vivo / análisis en caliente (depurador)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400" dirty="0"/>
              <a:t>Código binario en ejecución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400" dirty="0"/>
              <a:t>Sólo se analiza un único camino (el que se está ejecutando)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400" b="1" dirty="0"/>
              <a:t>PROBLEMA: </a:t>
            </a:r>
            <a:r>
              <a:rPr lang="es-MX" sz="2400" dirty="0"/>
              <a:t>Completitud del análisis</a:t>
            </a:r>
          </a:p>
        </p:txBody>
      </p:sp>
    </p:spTree>
    <p:extLst>
      <p:ext uri="{BB962C8B-B14F-4D97-AF65-F5344CB8AC3E}">
        <p14:creationId xmlns:p14="http://schemas.microsoft.com/office/powerpoint/2010/main" val="2068973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2BB32-D825-9762-264C-AD8211055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3893126" cy="1402470"/>
          </a:xfrm>
        </p:spPr>
        <p:txBody>
          <a:bodyPr anchor="t">
            <a:normAutofit/>
          </a:bodyPr>
          <a:lstStyle/>
          <a:p>
            <a:r>
              <a:rPr lang="es-MX" sz="3200" b="1" dirty="0"/>
              <a:t>Otras herramientas de ingeniería inversa</a:t>
            </a:r>
            <a:endParaRPr lang="es-CO" sz="3200" b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DF02807E-19B7-2A79-0FA8-C2F69F5D3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2551176"/>
            <a:ext cx="3893126" cy="3591207"/>
          </a:xfrm>
        </p:spPr>
        <p:txBody>
          <a:bodyPr>
            <a:normAutofit/>
          </a:bodyPr>
          <a:lstStyle/>
          <a:p>
            <a:r>
              <a:rPr lang="es-CO" sz="2000"/>
              <a:t>https://www-apriorit-com.translate.goog/dev-blog/366-software-reverse-engineering-tools?_x_tr_sl=en&amp;_x_tr_tl=es&amp;_x_tr_hl=es&amp;_x_tr_pto=tc</a:t>
            </a:r>
          </a:p>
        </p:txBody>
      </p:sp>
      <p:pic>
        <p:nvPicPr>
          <p:cNvPr id="15" name="Imagen 14" descr="Interfaz de usuario gráfica, Diagrama&#10;&#10;El contenido generado por IA puede ser incorrecto.">
            <a:extLst>
              <a:ext uri="{FF2B5EF4-FFF2-40B4-BE49-F238E27FC236}">
                <a16:creationId xmlns:a16="http://schemas.microsoft.com/office/drawing/2014/main" id="{CD57CE81-89E9-5600-9779-EC7DD090A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7" r="6241" b="3"/>
          <a:stretch>
            <a:fillRect/>
          </a:stretch>
        </p:blipFill>
        <p:spPr>
          <a:xfrm>
            <a:off x="4799805" y="755950"/>
            <a:ext cx="3424845" cy="2253934"/>
          </a:xfrm>
          <a:prstGeom prst="rect">
            <a:avLst/>
          </a:prstGeom>
        </p:spPr>
      </p:pic>
      <p:pic>
        <p:nvPicPr>
          <p:cNvPr id="13" name="Imagen 12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AF166D7A-4286-9503-A652-47D5919BA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2" r="9261" b="-14"/>
          <a:stretch>
            <a:fillRect/>
          </a:stretch>
        </p:blipFill>
        <p:spPr>
          <a:xfrm>
            <a:off x="4799805" y="3047022"/>
            <a:ext cx="3424845" cy="2369126"/>
          </a:xfrm>
          <a:prstGeom prst="rect">
            <a:avLst/>
          </a:prstGeom>
        </p:spPr>
      </p:pic>
      <p:pic>
        <p:nvPicPr>
          <p:cNvPr id="9" name="Imagen 8" descr="Interfaz de usuario gráfica, Aplicación, Tabla&#10;&#10;El contenido generado por IA puede ser incorrecto.">
            <a:extLst>
              <a:ext uri="{FF2B5EF4-FFF2-40B4-BE49-F238E27FC236}">
                <a16:creationId xmlns:a16="http://schemas.microsoft.com/office/drawing/2014/main" id="{9A923382-9032-4576-E55C-A79E040C2F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5" r="-4" b="-4"/>
          <a:stretch>
            <a:fillRect/>
          </a:stretch>
        </p:blipFill>
        <p:spPr>
          <a:xfrm>
            <a:off x="8224650" y="755949"/>
            <a:ext cx="3424845" cy="2369127"/>
          </a:xfrm>
          <a:prstGeom prst="rect">
            <a:avLst/>
          </a:prstGeom>
        </p:spPr>
      </p:pic>
      <p:pic>
        <p:nvPicPr>
          <p:cNvPr id="19" name="Imagen 18" descr="Texto&#10;&#10;El contenido generado por IA puede ser incorrecto.">
            <a:extLst>
              <a:ext uri="{FF2B5EF4-FFF2-40B4-BE49-F238E27FC236}">
                <a16:creationId xmlns:a16="http://schemas.microsoft.com/office/drawing/2014/main" id="{0AD7346D-C8B0-58CC-AF18-731ACF26F5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650" y="3125076"/>
            <a:ext cx="3518949" cy="229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343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97171-6B8F-57FD-EBC9-7CF79AD50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Ghidra</a:t>
            </a:r>
            <a:r>
              <a:rPr lang="es-MX" b="1" dirty="0"/>
              <a:t> comparada con otras </a:t>
            </a:r>
            <a:r>
              <a:rPr lang="es-MX" b="1" dirty="0" err="1"/>
              <a:t>SREs</a:t>
            </a:r>
            <a:endParaRPr lang="es-CO" b="1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CEF0B1D3-C3C0-7CFB-240A-22F069135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2364" t="36848" r="11682" b="28654"/>
          <a:stretch>
            <a:fillRect/>
          </a:stretch>
        </p:blipFill>
        <p:spPr>
          <a:xfrm>
            <a:off x="2253342" y="1983377"/>
            <a:ext cx="6974428" cy="3764280"/>
          </a:xfrm>
        </p:spPr>
      </p:pic>
    </p:spTree>
    <p:extLst>
      <p:ext uri="{BB962C8B-B14F-4D97-AF65-F5344CB8AC3E}">
        <p14:creationId xmlns:p14="http://schemas.microsoft.com/office/powerpoint/2010/main" val="721228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083D0-AB9B-D1BD-4A85-94FDB872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Ghidra</a:t>
            </a:r>
            <a:r>
              <a:rPr lang="es-MX" b="1" dirty="0"/>
              <a:t> comparada con otras </a:t>
            </a:r>
            <a:r>
              <a:rPr lang="es-MX" b="1" dirty="0" err="1"/>
              <a:t>SREs</a:t>
            </a:r>
            <a:endParaRPr lang="es-C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DDE0D1F-5073-59A5-2729-EBF74860C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2122" t="36848" r="11810" b="26108"/>
          <a:stretch>
            <a:fillRect/>
          </a:stretch>
        </p:blipFill>
        <p:spPr>
          <a:xfrm>
            <a:off x="2274276" y="1880606"/>
            <a:ext cx="7983416" cy="4612269"/>
          </a:xfrm>
        </p:spPr>
      </p:pic>
    </p:spTree>
    <p:extLst>
      <p:ext uri="{BB962C8B-B14F-4D97-AF65-F5344CB8AC3E}">
        <p14:creationId xmlns:p14="http://schemas.microsoft.com/office/powerpoint/2010/main" val="2668384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31DB1-94D3-D8C4-D70B-ABD1A219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Instalando </a:t>
            </a:r>
            <a:r>
              <a:rPr lang="es-MX" b="1" dirty="0" err="1"/>
              <a:t>Ghidra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D19F93-C42F-C82D-EF65-8BB91408C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Página Web Oficial: </a:t>
            </a:r>
            <a:r>
              <a:rPr lang="es-MX" dirty="0">
                <a:hlinkClick r:id="rId2"/>
              </a:rPr>
              <a:t>https://ghidra-sre.org/</a:t>
            </a:r>
            <a:endParaRPr lang="es-MX" dirty="0"/>
          </a:p>
          <a:p>
            <a:pPr lvl="1"/>
            <a:r>
              <a:rPr lang="es-MX" dirty="0"/>
              <a:t>Código fuente en GitHub: </a:t>
            </a:r>
            <a:r>
              <a:rPr lang="es-MX" dirty="0">
                <a:hlinkClick r:id="rId3"/>
              </a:rPr>
              <a:t>https://github.com/NationalSecurityAgency/ghidra</a:t>
            </a:r>
            <a:endParaRPr lang="es-MX" dirty="0"/>
          </a:p>
          <a:p>
            <a:pPr marL="457200" lvl="1" indent="0">
              <a:buNone/>
            </a:pPr>
            <a:endParaRPr lang="es-CO" dirty="0"/>
          </a:p>
          <a:p>
            <a:pPr lvl="1"/>
            <a:r>
              <a:rPr lang="es-CO" dirty="0"/>
              <a:t>Tutorial de instalación: -	</a:t>
            </a:r>
            <a:r>
              <a:rPr lang="es-CO" dirty="0">
                <a:hlinkClick r:id="rId4"/>
              </a:rPr>
              <a:t>https://www.youtube.com/watch?v=OWEZQMVLMPs&amp;t=1s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54833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38DAA-D5F4-221E-3B4F-ACD843DF9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Conociendo a </a:t>
            </a:r>
            <a:r>
              <a:rPr lang="es-MX" b="1" dirty="0" err="1"/>
              <a:t>Ghidra</a:t>
            </a:r>
            <a:r>
              <a:rPr lang="es-MX" b="1" dirty="0"/>
              <a:t>  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39F27B-F1D1-68AD-D73A-8CCE45ACB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980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Gestión de aplicaciones a analizar mediante proyectos</a:t>
            </a:r>
          </a:p>
          <a:p>
            <a:pPr lvl="1"/>
            <a:r>
              <a:rPr lang="es-CO" dirty="0"/>
              <a:t>Se pueden añadir a un proyecto TODOS los ficheros que correspondan al mismo análisis</a:t>
            </a:r>
          </a:p>
          <a:p>
            <a:pPr lvl="1"/>
            <a:r>
              <a:rPr lang="es-CO" dirty="0"/>
              <a:t>Permite tener proyectos compartidos (“</a:t>
            </a:r>
            <a:r>
              <a:rPr lang="es-CO" dirty="0" err="1"/>
              <a:t>collaborative</a:t>
            </a:r>
            <a:r>
              <a:rPr lang="es-CO" dirty="0"/>
              <a:t> </a:t>
            </a:r>
            <a:r>
              <a:rPr lang="es-CO" dirty="0" err="1"/>
              <a:t>reversing</a:t>
            </a:r>
            <a:r>
              <a:rPr lang="es-CO" dirty="0"/>
              <a:t>”)</a:t>
            </a:r>
          </a:p>
          <a:p>
            <a:pPr lvl="2"/>
            <a:r>
              <a:rPr lang="es-CO" dirty="0"/>
              <a:t>Similar al plugin </a:t>
            </a:r>
            <a:r>
              <a:rPr lang="es-CO" dirty="0" err="1"/>
              <a:t>DArling</a:t>
            </a:r>
            <a:r>
              <a:rPr lang="es-CO" dirty="0"/>
              <a:t> del </a:t>
            </a:r>
            <a:r>
              <a:rPr lang="es-CO" dirty="0" err="1"/>
              <a:t>IDAPro</a:t>
            </a:r>
            <a:endParaRPr lang="es-CO" dirty="0"/>
          </a:p>
          <a:p>
            <a:pPr lvl="2"/>
            <a:r>
              <a:rPr lang="es-CO" dirty="0"/>
              <a:t>Activo por defecto, se ha de configurar</a:t>
            </a:r>
          </a:p>
          <a:p>
            <a:pPr lvl="2"/>
            <a:r>
              <a:rPr lang="es-CO" b="1" dirty="0"/>
              <a:t>Configurando un servidor de </a:t>
            </a:r>
            <a:r>
              <a:rPr lang="es-CO" b="1" dirty="0" err="1"/>
              <a:t>Ghidra</a:t>
            </a:r>
            <a:r>
              <a:rPr lang="es-CO" b="1" dirty="0"/>
              <a:t>: </a:t>
            </a:r>
            <a:r>
              <a:rPr lang="es-CO" dirty="0"/>
              <a:t>https://youtu.be/MhDtaFqcLUM</a:t>
            </a:r>
          </a:p>
        </p:txBody>
      </p:sp>
    </p:spTree>
    <p:extLst>
      <p:ext uri="{BB962C8B-B14F-4D97-AF65-F5344CB8AC3E}">
        <p14:creationId xmlns:p14="http://schemas.microsoft.com/office/powerpoint/2010/main" val="2846793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8A721A7-5EAE-98E7-F233-3839C1226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084" y="1711569"/>
            <a:ext cx="8864186" cy="462184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7AA6821-B55C-2EEE-4B7A-AF413E7885FF}"/>
              </a:ext>
            </a:extLst>
          </p:cNvPr>
          <p:cNvSpPr txBox="1"/>
          <p:nvPr/>
        </p:nvSpPr>
        <p:spPr>
          <a:xfrm>
            <a:off x="820615" y="704073"/>
            <a:ext cx="7690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/>
              <a:t>Importación de archivos</a:t>
            </a:r>
            <a:endParaRPr lang="es-CO" sz="3200" b="1" dirty="0"/>
          </a:p>
        </p:txBody>
      </p:sp>
    </p:spTree>
    <p:extLst>
      <p:ext uri="{BB962C8B-B14F-4D97-AF65-F5344CB8AC3E}">
        <p14:creationId xmlns:p14="http://schemas.microsoft.com/office/powerpoint/2010/main" val="2220181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B97D073-EEF9-E096-506D-6A9CD910E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113" y="0"/>
            <a:ext cx="100657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080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39DD19F-C767-E8DD-02C4-FEF10F2EE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953" y="0"/>
            <a:ext cx="78680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426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B6FDC-A781-521F-9D3B-D77FCD6CE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Crackme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25DBB6-D417-A987-0B66-880450646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dirty="0"/>
              <a:t>Un </a:t>
            </a:r>
            <a:r>
              <a:rPr lang="es-ES" dirty="0" err="1"/>
              <a:t>crackme</a:t>
            </a:r>
            <a:r>
              <a:rPr lang="es-ES" dirty="0"/>
              <a:t> es un pequeño programa informático diseñado para poner a prueba las habilidades de ingeniería inversa de un programador. Los </a:t>
            </a:r>
            <a:r>
              <a:rPr lang="es-ES" dirty="0" err="1"/>
              <a:t>crackmes</a:t>
            </a:r>
            <a:r>
              <a:rPr lang="es-ES" dirty="0"/>
              <a:t> se crean como una forma legal de descifrar software, ya que no se infringe ninguna propiedad intelectual.</a:t>
            </a:r>
          </a:p>
          <a:p>
            <a:pPr algn="just"/>
            <a:endParaRPr lang="es-ES" dirty="0"/>
          </a:p>
          <a:p>
            <a:pPr algn="just"/>
            <a:r>
              <a:rPr lang="es-CO" dirty="0"/>
              <a:t>Un </a:t>
            </a:r>
            <a:r>
              <a:rPr lang="es-CO" b="1" dirty="0" err="1"/>
              <a:t>keygenme</a:t>
            </a:r>
            <a:r>
              <a:rPr lang="es-CO" dirty="0"/>
              <a:t> </a:t>
            </a:r>
            <a:r>
              <a:rPr lang="es-ES" dirty="0"/>
              <a:t>está diseñado específicamente para que el </a:t>
            </a:r>
            <a:r>
              <a:rPr lang="es-ES" i="1" dirty="0" err="1"/>
              <a:t>reversor</a:t>
            </a:r>
            <a:r>
              <a:rPr lang="es-ES" dirty="0"/>
              <a:t> no solo identifique el algoritmo de protección utilizado en la aplicación, sino que también cree un pequeño generador de claves (</a:t>
            </a:r>
            <a:r>
              <a:rPr lang="es-ES" dirty="0" err="1"/>
              <a:t>keygen</a:t>
            </a:r>
            <a:r>
              <a:rPr lang="es-ES" dirty="0"/>
              <a:t>) en el lenguaje de programación de su elección.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806188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5BF41-4AC8-9C6D-C356-251F6B79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Crackmes.one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8B0462-5668-A39A-34C9-C49330DB9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503"/>
            <a:ext cx="10515600" cy="4351338"/>
          </a:xfrm>
        </p:spPr>
        <p:txBody>
          <a:bodyPr/>
          <a:lstStyle/>
          <a:p>
            <a:r>
              <a:rPr lang="es-CO" dirty="0">
                <a:hlinkClick r:id="rId2"/>
              </a:rPr>
              <a:t>https://crackmes.one/</a:t>
            </a: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D517D14-7529-60A2-D70B-8D3DDB488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122" y="2316480"/>
            <a:ext cx="8388331" cy="398882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2B60624-831B-EBA3-6C09-28794E89E3FB}"/>
              </a:ext>
            </a:extLst>
          </p:cNvPr>
          <p:cNvSpPr/>
          <p:nvPr/>
        </p:nvSpPr>
        <p:spPr>
          <a:xfrm>
            <a:off x="7462520" y="2372360"/>
            <a:ext cx="416560" cy="325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696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2C99F-5868-9416-E9AD-8D40ED9B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Crackmes.one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7075CA9-022E-41A2-538C-AA90EA41E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9382" y="1825625"/>
            <a:ext cx="9893235" cy="4351338"/>
          </a:xfrm>
        </p:spPr>
      </p:pic>
    </p:spTree>
    <p:extLst>
      <p:ext uri="{BB962C8B-B14F-4D97-AF65-F5344CB8AC3E}">
        <p14:creationId xmlns:p14="http://schemas.microsoft.com/office/powerpoint/2010/main" val="61477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91450-8A81-5C02-B6DF-7498267F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Crackmes.one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5DA6F98-0515-57D4-4BC7-3612AA338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77555"/>
            <a:ext cx="10515600" cy="3647477"/>
          </a:xfrm>
        </p:spPr>
      </p:pic>
    </p:spTree>
    <p:extLst>
      <p:ext uri="{BB962C8B-B14F-4D97-AF65-F5344CB8AC3E}">
        <p14:creationId xmlns:p14="http://schemas.microsoft.com/office/powerpoint/2010/main" val="2921909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8FC38-9302-C796-AB6A-8A239BD5D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err="1"/>
              <a:t>Cruehead’s</a:t>
            </a:r>
            <a:r>
              <a:rPr lang="es-CO" b="1" dirty="0"/>
              <a:t> </a:t>
            </a:r>
            <a:r>
              <a:rPr lang="es-CO" b="1" dirty="0" err="1"/>
              <a:t>Crackme</a:t>
            </a:r>
            <a:r>
              <a:rPr lang="es-CO" b="1" dirty="0"/>
              <a:t> 1.0 </a:t>
            </a:r>
            <a:r>
              <a:rPr lang="es-CO" b="1" dirty="0" err="1"/>
              <a:t>Keygen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F48AB9-1DDE-2746-1A30-50DA94E01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https://deurus.info/2014/09/crueheads-crackme-1-0-keygen-13/#_Links</a:t>
            </a:r>
          </a:p>
        </p:txBody>
      </p:sp>
    </p:spTree>
    <p:extLst>
      <p:ext uri="{BB962C8B-B14F-4D97-AF65-F5344CB8AC3E}">
        <p14:creationId xmlns:p14="http://schemas.microsoft.com/office/powerpoint/2010/main" val="911672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E3EA7-6EA2-BEEB-FC14-21E8B9699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Referencias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19620C-F142-A9F0-5ED8-E664A6A47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>
                <a:hlinkClick r:id="rId2"/>
              </a:rPr>
              <a:t>https://clearbluejar-github-io.translate.goog/posts/decompilation-debugging-pretending-all-binaries-come-with-source-code/?_x_tr_sl=en&amp;_x_tr_tl=es&amp;_x_tr_hl=es&amp;_x_tr_pto=tc</a:t>
            </a:r>
            <a:endParaRPr lang="es-CO" dirty="0"/>
          </a:p>
          <a:p>
            <a:r>
              <a:rPr lang="es-CO" dirty="0">
                <a:hlinkClick r:id="rId3"/>
              </a:rPr>
              <a:t>https://edu.anarcho-copy.org/other/Reverse%20Engineering/Learning_Malware_Analysis.pdf</a:t>
            </a:r>
            <a:endParaRPr lang="es-CO" dirty="0"/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930479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1070</Words>
  <Application>Microsoft Office PowerPoint</Application>
  <PresentationFormat>Panorámica</PresentationFormat>
  <Paragraphs>129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Tema de Office</vt:lpstr>
      <vt:lpstr>Pila e introducción a Ghidra</vt:lpstr>
      <vt:lpstr>Pila</vt:lpstr>
      <vt:lpstr>Ejemplo</vt:lpstr>
      <vt:lpstr>Llamamiento a funciones</vt:lpstr>
      <vt:lpstr>Punteros importantes en la pila</vt:lpstr>
      <vt:lpstr>Parámetros de funciones y valores de retorno</vt:lpstr>
      <vt:lpstr>Ejemplo</vt:lpstr>
      <vt:lpstr>Presentación de PowerPoint</vt:lpstr>
      <vt:lpstr>Ejemplo</vt:lpstr>
      <vt:lpstr>***Convención de llamadas</vt:lpstr>
      <vt:lpstr>Convención de llamadas: cdecl</vt:lpstr>
      <vt:lpstr>Convención de llamadas: stdcall</vt:lpstr>
      <vt:lpstr>Convención de llamadas: fastcall</vt:lpstr>
      <vt:lpstr>Convención de llamadas</vt:lpstr>
      <vt:lpstr>Volviendo al ejemplo de test…</vt:lpstr>
      <vt:lpstr>Ejemplo</vt:lpstr>
      <vt:lpstr>Ejemplo</vt:lpstr>
      <vt:lpstr>Reto de desensamblado</vt:lpstr>
      <vt:lpstr>Decompilador, depurador, desensamblador, editores hexadecimales</vt:lpstr>
      <vt:lpstr>Ghidra</vt:lpstr>
      <vt:lpstr>Características de Ghidra</vt:lpstr>
      <vt:lpstr>Otras herramientas de ingeniería inversa</vt:lpstr>
      <vt:lpstr>Ghidra comparada con otras SREs</vt:lpstr>
      <vt:lpstr>Ghidra comparada con otras SREs</vt:lpstr>
      <vt:lpstr>Instalando Ghidra</vt:lpstr>
      <vt:lpstr>Conociendo a Ghidra  </vt:lpstr>
      <vt:lpstr>Presentación de PowerPoint</vt:lpstr>
      <vt:lpstr>Presentación de PowerPoint</vt:lpstr>
      <vt:lpstr>Presentación de PowerPoint</vt:lpstr>
      <vt:lpstr>Crackme</vt:lpstr>
      <vt:lpstr>Crackmes.one</vt:lpstr>
      <vt:lpstr>Crackmes.one</vt:lpstr>
      <vt:lpstr>Crackmes.one</vt:lpstr>
      <vt:lpstr>Cruehead’s Crackme 1.0 Keygen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Carmen Calderón</dc:creator>
  <cp:lastModifiedBy>Carmen Calderón</cp:lastModifiedBy>
  <cp:revision>4</cp:revision>
  <dcterms:created xsi:type="dcterms:W3CDTF">2025-06-14T08:27:29Z</dcterms:created>
  <dcterms:modified xsi:type="dcterms:W3CDTF">2025-06-15T01:12:55Z</dcterms:modified>
</cp:coreProperties>
</file>