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8" r:id="rId6"/>
    <p:sldId id="259" r:id="rId7"/>
    <p:sldId id="262" r:id="rId8"/>
    <p:sldId id="263" r:id="rId9"/>
    <p:sldId id="271" r:id="rId10"/>
    <p:sldId id="286" r:id="rId11"/>
    <p:sldId id="287" r:id="rId12"/>
    <p:sldId id="288" r:id="rId13"/>
    <p:sldId id="289" r:id="rId14"/>
    <p:sldId id="272" r:id="rId15"/>
    <p:sldId id="273" r:id="rId16"/>
    <p:sldId id="275" r:id="rId17"/>
    <p:sldId id="267" r:id="rId18"/>
    <p:sldId id="282" r:id="rId19"/>
    <p:sldId id="283" r:id="rId20"/>
    <p:sldId id="284" r:id="rId21"/>
    <p:sldId id="285" r:id="rId22"/>
    <p:sldId id="266" r:id="rId23"/>
    <p:sldId id="269" r:id="rId24"/>
    <p:sldId id="277" r:id="rId25"/>
    <p:sldId id="278" r:id="rId26"/>
    <p:sldId id="261" r:id="rId27"/>
    <p:sldId id="257" r:id="rId28"/>
    <p:sldId id="268" r:id="rId29"/>
    <p:sldId id="281" r:id="rId30"/>
    <p:sldId id="260" r:id="rId31"/>
    <p:sldId id="270" r:id="rId32"/>
    <p:sldId id="276" r:id="rId33"/>
    <p:sldId id="265" r:id="rId3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48" y="9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2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94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26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5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11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13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71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181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38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90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58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839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arlu.com/lenguajes-de-programacion/" TargetMode="External"/><Relationship Id="rId2" Type="http://schemas.openxmlformats.org/officeDocument/2006/relationships/hyperlink" Target="https://es.wikipedia.org/wiki/X86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rofesionalreview.com/2019/11/18/registros-del-procesador/" TargetMode="External"/><Relationship Id="rId4" Type="http://schemas.openxmlformats.org/officeDocument/2006/relationships/hyperlink" Target="https://programacionits.blogspot.com/2012/02/lenguaje-ensamblado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arte de una red con un fondo blanco">
            <a:extLst>
              <a:ext uri="{FF2B5EF4-FFF2-40B4-BE49-F238E27FC236}">
                <a16:creationId xmlns:a16="http://schemas.microsoft.com/office/drawing/2014/main" id="{A54EA27E-66D9-4E38-619F-6F3B07E428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8F2972-F228-2D15-2EE8-B476BF9CE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s-MX" dirty="0">
                <a:solidFill>
                  <a:srgbClr val="FFFFFF"/>
                </a:solidFill>
              </a:rPr>
              <a:t>Programación en ensamblador</a:t>
            </a:r>
            <a:endParaRPr lang="es-CO" dirty="0">
              <a:solidFill>
                <a:srgbClr val="FFFFFF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270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E5B247-936D-2CEB-5047-6D21E4A01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99024"/>
            <a:ext cx="3545609" cy="52524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800" dirty="0" err="1"/>
              <a:t>Características</a:t>
            </a:r>
            <a:r>
              <a:rPr lang="en-US" sz="2800" dirty="0"/>
              <a:t> </a:t>
            </a:r>
            <a:r>
              <a:rPr lang="en-US" sz="2800" dirty="0" err="1"/>
              <a:t>básicas</a:t>
            </a:r>
            <a:r>
              <a:rPr lang="en-US" sz="2800" dirty="0"/>
              <a:t> del hardware de un pc</a:t>
            </a:r>
            <a:br>
              <a:rPr lang="en-US" sz="2800" dirty="0"/>
            </a:br>
            <a:br>
              <a:rPr lang="en-US" sz="1800" cap="none" dirty="0">
                <a:latin typeface="Abadi" panose="020F0502020204030204" pitchFamily="34" charset="0"/>
              </a:rPr>
            </a:br>
            <a:r>
              <a:rPr lang="es-MX" sz="1800" cap="none" dirty="0">
                <a:latin typeface="Abadi" panose="020F0502020204030204" pitchFamily="34" charset="0"/>
              </a:rPr>
              <a:t>El hardware interno principal </a:t>
            </a:r>
            <a:r>
              <a:rPr lang="es-MX" sz="1800" cap="none" dirty="0">
                <a:latin typeface="Arial Nova" panose="020F0502020204030204" pitchFamily="34" charset="0"/>
              </a:rPr>
              <a:t>de una pc consta del procesador, la memoria y los registros. los registros son componentes del procesador que almacenan datos y direcciones. para ejecutar un programa, el sistema lo copia del dispositivo externo a la memoria interna. el procesador ejecuta las instrucciones del programa.</a:t>
            </a:r>
            <a:endParaRPr lang="en-US" sz="2800" dirty="0">
              <a:latin typeface="Arial Nova" panose="020F050202020403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5A2C574E-BBC1-5D51-4262-A96F074B1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269" y="723900"/>
            <a:ext cx="6967681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225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9541F-FC6B-5323-EF28-C97ECD25E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almacenamiento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E6813F-1802-784B-0F9C-1FBAFDBB2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La unidad fundamental de almacenamiento informático es el bit; puede estar activado (1) o desactivado (0)</a:t>
            </a:r>
          </a:p>
          <a:p>
            <a:r>
              <a:rPr lang="es-ES" dirty="0"/>
              <a:t>El procesador también admite los siguientes tamaños de datos:</a:t>
            </a:r>
          </a:p>
          <a:p>
            <a:pPr lvl="1"/>
            <a:r>
              <a:rPr lang="es-ES" dirty="0"/>
              <a:t>Byte: 8 bits</a:t>
            </a:r>
          </a:p>
          <a:p>
            <a:pPr lvl="1"/>
            <a:r>
              <a:rPr lang="es-ES" dirty="0"/>
              <a:t>Palabra: 2 bytes</a:t>
            </a:r>
            <a:endParaRPr lang="es-CO" dirty="0"/>
          </a:p>
          <a:p>
            <a:pPr lvl="1"/>
            <a:r>
              <a:rPr lang="es-CO" dirty="0"/>
              <a:t>Doble palabra: 32 bits</a:t>
            </a:r>
          </a:p>
          <a:p>
            <a:pPr lvl="1"/>
            <a:r>
              <a:rPr lang="es-CO" dirty="0"/>
              <a:t>Cuatro palabras: 64 bits</a:t>
            </a:r>
          </a:p>
          <a:p>
            <a:pPr lvl="1"/>
            <a:r>
              <a:rPr lang="es-CO" dirty="0"/>
              <a:t>Párrafo: 128 bits</a:t>
            </a:r>
          </a:p>
          <a:p>
            <a:pPr lvl="1"/>
            <a:r>
              <a:rPr lang="es-CO" dirty="0"/>
              <a:t>Kilobyte: 1024 bytes</a:t>
            </a:r>
          </a:p>
          <a:p>
            <a:pPr lvl="1"/>
            <a:r>
              <a:rPr lang="es-CO" dirty="0"/>
              <a:t>Megabyte: 1048576 bytes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9085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B4DF0-9411-AF9D-B690-2020185FC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2956560"/>
            <a:ext cx="10691265" cy="1307592"/>
          </a:xfrm>
        </p:spPr>
        <p:txBody>
          <a:bodyPr/>
          <a:lstStyle/>
          <a:p>
            <a:pPr algn="ctr"/>
            <a:r>
              <a:rPr lang="es-MX" dirty="0"/>
              <a:t>Sistemas de numeración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9066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2AC480-D855-516D-DF8A-404B79A7B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 descr="Calendario&#10;&#10;El contenido generado por IA puede ser incorrecto.">
            <a:extLst>
              <a:ext uri="{FF2B5EF4-FFF2-40B4-BE49-F238E27FC236}">
                <a16:creationId xmlns:a16="http://schemas.microsoft.com/office/drawing/2014/main" id="{E73A313D-8D14-E6F3-C884-4AA20C6C3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76" y="1"/>
            <a:ext cx="11924224" cy="6858000"/>
          </a:xfrm>
        </p:spPr>
      </p:pic>
    </p:spTree>
    <p:extLst>
      <p:ext uri="{BB962C8B-B14F-4D97-AF65-F5344CB8AC3E}">
        <p14:creationId xmlns:p14="http://schemas.microsoft.com/office/powerpoint/2010/main" val="2912379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1D458-AD88-FC8C-8FFE-9545DD3F7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registros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6B3F10-B416-7927-F91D-67C0243DC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04897"/>
            <a:ext cx="4914102" cy="3739896"/>
          </a:xfrm>
        </p:spPr>
        <p:txBody>
          <a:bodyPr/>
          <a:lstStyle/>
          <a:p>
            <a:pPr algn="just"/>
            <a:r>
              <a:rPr lang="es-MX" dirty="0"/>
              <a:t>Los registros se encuentran dentro de cada microprocesador y su función es almacenar los valores de datos, comandos, instrucciones o estados binarios que ordenan qué dato debe procesarse, como la forma en la que se debe hacer. Un registro no deja de ser una memoria de velocidad alta y con poca capacidad.</a:t>
            </a:r>
          </a:p>
          <a:p>
            <a:endParaRPr lang="es-CO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1894ACEA-0A91-2E42-F44E-9462411E3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242" y="1313207"/>
            <a:ext cx="6109876" cy="437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42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AD56A21-8F69-9434-425E-45E7231A6F0C}"/>
              </a:ext>
            </a:extLst>
          </p:cNvPr>
          <p:cNvSpPr/>
          <p:nvPr/>
        </p:nvSpPr>
        <p:spPr>
          <a:xfrm>
            <a:off x="716280" y="1264920"/>
            <a:ext cx="10713720" cy="1143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AE90B41-C707-6CAF-22A2-1DABBC08A5DA}"/>
              </a:ext>
            </a:extLst>
          </p:cNvPr>
          <p:cNvSpPr txBox="1"/>
          <p:nvPr/>
        </p:nvSpPr>
        <p:spPr>
          <a:xfrm>
            <a:off x="4892040" y="3429000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RAX</a:t>
            </a:r>
          </a:p>
          <a:p>
            <a:pPr algn="ctr"/>
            <a:r>
              <a:rPr lang="es-MX" sz="3600" dirty="0"/>
              <a:t>(64 BITS)</a:t>
            </a:r>
            <a:endParaRPr lang="es-CO" sz="3600" dirty="0"/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E00C7790-E774-27E7-2CEC-433EB25B2FD3}"/>
              </a:ext>
            </a:extLst>
          </p:cNvPr>
          <p:cNvSpPr/>
          <p:nvPr/>
        </p:nvSpPr>
        <p:spPr>
          <a:xfrm rot="5400000">
            <a:off x="5520690" y="-2422476"/>
            <a:ext cx="1051560" cy="107670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4490498-2327-8C8E-039B-8F02D20A1564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6073140" y="1264920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662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91763BC-B889-005E-1778-C9C6F35690C5}"/>
              </a:ext>
            </a:extLst>
          </p:cNvPr>
          <p:cNvSpPr/>
          <p:nvPr/>
        </p:nvSpPr>
        <p:spPr>
          <a:xfrm>
            <a:off x="716280" y="1264920"/>
            <a:ext cx="10713720" cy="1143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9EE3BA0-FECF-43E0-0990-8EEBED989DD5}"/>
              </a:ext>
            </a:extLst>
          </p:cNvPr>
          <p:cNvSpPr txBox="1"/>
          <p:nvPr/>
        </p:nvSpPr>
        <p:spPr>
          <a:xfrm>
            <a:off x="7581900" y="3514188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EAX</a:t>
            </a:r>
          </a:p>
          <a:p>
            <a:pPr algn="ctr"/>
            <a:r>
              <a:rPr lang="es-MX" sz="3600" dirty="0"/>
              <a:t>(32 BITS)</a:t>
            </a:r>
            <a:endParaRPr lang="es-CO" sz="3600" dirty="0"/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01905244-3061-C8BC-1FF9-7E98B1AFA723}"/>
              </a:ext>
            </a:extLst>
          </p:cNvPr>
          <p:cNvSpPr/>
          <p:nvPr/>
        </p:nvSpPr>
        <p:spPr>
          <a:xfrm rot="5400000">
            <a:off x="8237220" y="294054"/>
            <a:ext cx="1051560" cy="5334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8030017-A63F-63C1-5188-B2A7CB2F8146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6073140" y="1264920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438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69C9400-21AA-A7DC-6104-CFECC8936CBC}"/>
              </a:ext>
            </a:extLst>
          </p:cNvPr>
          <p:cNvSpPr/>
          <p:nvPr/>
        </p:nvSpPr>
        <p:spPr>
          <a:xfrm>
            <a:off x="716280" y="1264920"/>
            <a:ext cx="10713720" cy="1143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99DD87-0595-183D-3DF6-6CCB1F21D552}"/>
              </a:ext>
            </a:extLst>
          </p:cNvPr>
          <p:cNvSpPr txBox="1"/>
          <p:nvPr/>
        </p:nvSpPr>
        <p:spPr>
          <a:xfrm>
            <a:off x="8907780" y="3697068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AX</a:t>
            </a:r>
          </a:p>
          <a:p>
            <a:pPr algn="ctr"/>
            <a:r>
              <a:rPr lang="es-MX" sz="3600" dirty="0"/>
              <a:t>(16 BITS)</a:t>
            </a:r>
            <a:endParaRPr lang="es-CO" sz="3600" dirty="0"/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9476126E-FE58-A684-92FD-348F5E0DDA9C}"/>
              </a:ext>
            </a:extLst>
          </p:cNvPr>
          <p:cNvSpPr/>
          <p:nvPr/>
        </p:nvSpPr>
        <p:spPr>
          <a:xfrm rot="5400000">
            <a:off x="9563100" y="1619934"/>
            <a:ext cx="1051560" cy="26822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0AB97DC-1E35-D251-BCC4-5995C60103EB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6073140" y="1264920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3658B89-0480-C64E-21B3-832C4BB5C1A3}"/>
              </a:ext>
            </a:extLst>
          </p:cNvPr>
          <p:cNvCxnSpPr/>
          <p:nvPr/>
        </p:nvCxnSpPr>
        <p:spPr>
          <a:xfrm>
            <a:off x="8747760" y="1264920"/>
            <a:ext cx="0" cy="1158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349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7205469-A357-0644-8D34-D0FF1AB3FEA6}"/>
              </a:ext>
            </a:extLst>
          </p:cNvPr>
          <p:cNvSpPr/>
          <p:nvPr/>
        </p:nvSpPr>
        <p:spPr>
          <a:xfrm>
            <a:off x="716280" y="1264920"/>
            <a:ext cx="10713720" cy="1143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E8E6546-9585-D036-500D-868341CEE32E}"/>
              </a:ext>
            </a:extLst>
          </p:cNvPr>
          <p:cNvSpPr txBox="1"/>
          <p:nvPr/>
        </p:nvSpPr>
        <p:spPr>
          <a:xfrm>
            <a:off x="7962900" y="3670724"/>
            <a:ext cx="2362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AH</a:t>
            </a:r>
          </a:p>
          <a:p>
            <a:pPr algn="ctr"/>
            <a:r>
              <a:rPr lang="es-MX" sz="3600" dirty="0"/>
              <a:t>(8 BITS ALTOS)</a:t>
            </a:r>
            <a:endParaRPr lang="es-CO" sz="3600" dirty="0"/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0857B931-B310-15B8-C516-F89D49171C52}"/>
              </a:ext>
            </a:extLst>
          </p:cNvPr>
          <p:cNvSpPr/>
          <p:nvPr/>
        </p:nvSpPr>
        <p:spPr>
          <a:xfrm rot="5400000">
            <a:off x="10241280" y="2298114"/>
            <a:ext cx="1051560" cy="13258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F67E650-C11B-26C1-03E4-547AD44A1272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6073140" y="1264920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488E29B-2BCD-934A-853A-837FD0039B0A}"/>
              </a:ext>
            </a:extLst>
          </p:cNvPr>
          <p:cNvCxnSpPr/>
          <p:nvPr/>
        </p:nvCxnSpPr>
        <p:spPr>
          <a:xfrm>
            <a:off x="8747760" y="1264920"/>
            <a:ext cx="0" cy="1158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A370E22-1FF5-9E2B-702E-702052D72A07}"/>
              </a:ext>
            </a:extLst>
          </p:cNvPr>
          <p:cNvCxnSpPr/>
          <p:nvPr/>
        </p:nvCxnSpPr>
        <p:spPr>
          <a:xfrm>
            <a:off x="10104120" y="1264920"/>
            <a:ext cx="0" cy="1158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errar llave 9">
            <a:extLst>
              <a:ext uri="{FF2B5EF4-FFF2-40B4-BE49-F238E27FC236}">
                <a16:creationId xmlns:a16="http://schemas.microsoft.com/office/drawing/2014/main" id="{75A5A4F5-36EC-0A22-D732-7E2DA3AA643E}"/>
              </a:ext>
            </a:extLst>
          </p:cNvPr>
          <p:cNvSpPr/>
          <p:nvPr/>
        </p:nvSpPr>
        <p:spPr>
          <a:xfrm rot="5400000">
            <a:off x="8884920" y="2240280"/>
            <a:ext cx="1051560" cy="13258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FF2E19A-3A4A-3D70-E013-F81D6D1C188B}"/>
              </a:ext>
            </a:extLst>
          </p:cNvPr>
          <p:cNvSpPr txBox="1"/>
          <p:nvPr/>
        </p:nvSpPr>
        <p:spPr>
          <a:xfrm>
            <a:off x="9829800" y="3670724"/>
            <a:ext cx="2362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</a:t>
            </a:r>
          </a:p>
          <a:p>
            <a:pPr algn="ctr"/>
            <a:r>
              <a:rPr lang="es-MX" sz="3600" dirty="0"/>
              <a:t>(8 BITS BAJOS)</a:t>
            </a:r>
            <a:endParaRPr lang="es-CO" sz="3600" dirty="0"/>
          </a:p>
        </p:txBody>
      </p:sp>
    </p:spTree>
    <p:extLst>
      <p:ext uri="{BB962C8B-B14F-4D97-AF65-F5344CB8AC3E}">
        <p14:creationId xmlns:p14="http://schemas.microsoft.com/office/powerpoint/2010/main" val="579434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D57E58-B371-9778-C5BB-164EA752B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s-MX" dirty="0"/>
              <a:t>Registros de propósito general (</a:t>
            </a:r>
            <a:r>
              <a:rPr lang="es-MX" dirty="0" err="1"/>
              <a:t>gprS</a:t>
            </a:r>
            <a:r>
              <a:rPr lang="es-MX" dirty="0"/>
              <a:t>)</a:t>
            </a:r>
            <a:endParaRPr lang="es-CO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7E6EFA32-261C-AAD2-9F74-37289F703D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603222"/>
              </p:ext>
            </p:extLst>
          </p:nvPr>
        </p:nvGraphicFramePr>
        <p:xfrm>
          <a:off x="700088" y="2232547"/>
          <a:ext cx="10691813" cy="3720060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2370195">
                  <a:extLst>
                    <a:ext uri="{9D8B030D-6E8A-4147-A177-3AD203B41FA5}">
                      <a16:colId xmlns:a16="http://schemas.microsoft.com/office/drawing/2014/main" val="4236800675"/>
                    </a:ext>
                  </a:extLst>
                </a:gridCol>
                <a:gridCol w="4107088">
                  <a:extLst>
                    <a:ext uri="{9D8B030D-6E8A-4147-A177-3AD203B41FA5}">
                      <a16:colId xmlns:a16="http://schemas.microsoft.com/office/drawing/2014/main" val="2113300343"/>
                    </a:ext>
                  </a:extLst>
                </a:gridCol>
                <a:gridCol w="4214530">
                  <a:extLst>
                    <a:ext uri="{9D8B030D-6E8A-4147-A177-3AD203B41FA5}">
                      <a16:colId xmlns:a16="http://schemas.microsoft.com/office/drawing/2014/main" val="4255213901"/>
                    </a:ext>
                  </a:extLst>
                </a:gridCol>
              </a:tblGrid>
              <a:tr h="413340"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Registro</a:t>
                      </a:r>
                    </a:p>
                  </a:txBody>
                  <a:tcPr marL="113523" marR="66145" marT="87325" marB="8732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Significado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Uso común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211754"/>
                  </a:ext>
                </a:extLst>
              </a:tr>
              <a:tr h="413340"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EAX</a:t>
                      </a:r>
                    </a:p>
                  </a:txBody>
                  <a:tcPr marL="113523" marR="66145" marT="87325" marB="8732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Accumulator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Operaciones aritméticas, retorno de funciones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751356"/>
                  </a:ext>
                </a:extLst>
              </a:tr>
              <a:tr h="413340"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EBX</a:t>
                      </a:r>
                    </a:p>
                  </a:txBody>
                  <a:tcPr marL="113523" marR="66145" marT="87325" marB="8732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Base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Acceso a memoria, índice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314446"/>
                  </a:ext>
                </a:extLst>
              </a:tr>
              <a:tr h="413340"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ECX</a:t>
                      </a:r>
                    </a:p>
                  </a:txBody>
                  <a:tcPr marL="113523" marR="66145" marT="87325" marB="8732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Counter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Contadores en bucles (LOOP)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417067"/>
                  </a:ext>
                </a:extLst>
              </a:tr>
              <a:tr h="413340"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EDX</a:t>
                      </a:r>
                    </a:p>
                  </a:txBody>
                  <a:tcPr marL="113523" marR="66145" marT="87325" marB="8732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Data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300" cap="none" spc="0">
                          <a:solidFill>
                            <a:schemeClr val="tx1"/>
                          </a:solidFill>
                        </a:rPr>
                        <a:t>Operaciones de E/S y multiplicación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522935"/>
                  </a:ext>
                </a:extLst>
              </a:tr>
              <a:tr h="413340"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ESI</a:t>
                      </a:r>
                    </a:p>
                  </a:txBody>
                  <a:tcPr marL="113523" marR="66145" marT="87325" marB="8732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Source Index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300" cap="none" spc="0">
                          <a:solidFill>
                            <a:schemeClr val="tx1"/>
                          </a:solidFill>
                        </a:rPr>
                        <a:t>Fuente en operaciones con cadenas (MOVS, LODS)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155084"/>
                  </a:ext>
                </a:extLst>
              </a:tr>
              <a:tr h="413340"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EDI</a:t>
                      </a:r>
                    </a:p>
                  </a:txBody>
                  <a:tcPr marL="113523" marR="66145" marT="87325" marB="8732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Destination Index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300" cap="none" spc="0">
                          <a:solidFill>
                            <a:schemeClr val="tx1"/>
                          </a:solidFill>
                        </a:rPr>
                        <a:t>Destino en operaciones con cadenas (STOS, SCAS)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296004"/>
                  </a:ext>
                </a:extLst>
              </a:tr>
              <a:tr h="413340"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EBP</a:t>
                      </a:r>
                    </a:p>
                  </a:txBody>
                  <a:tcPr marL="113523" marR="66145" marT="87325" marB="8732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Base Pointer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Apunta a la base del marco de pila (stack frame)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38130"/>
                  </a:ext>
                </a:extLst>
              </a:tr>
              <a:tr h="413340"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ESP</a:t>
                      </a:r>
                    </a:p>
                  </a:txBody>
                  <a:tcPr marL="113523" marR="66145" marT="87325" marB="8732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300" cap="none" spc="0">
                          <a:solidFill>
                            <a:schemeClr val="tx1"/>
                          </a:solidFill>
                        </a:rPr>
                        <a:t>Stack Pointer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300" cap="none" spc="0" dirty="0">
                          <a:solidFill>
                            <a:schemeClr val="tx1"/>
                          </a:solidFill>
                        </a:rPr>
                        <a:t>Apunta a la cima de la pila (top </a:t>
                      </a:r>
                      <a:r>
                        <a:rPr lang="es-CO" sz="1300" cap="none" spc="0" dirty="0" err="1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es-CO" sz="13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CO" sz="1300" cap="none" spc="0" dirty="0" err="1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s-CO" sz="13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CO" sz="1300" cap="none" spc="0" dirty="0" err="1">
                          <a:solidFill>
                            <a:schemeClr val="tx1"/>
                          </a:solidFill>
                        </a:rPr>
                        <a:t>stack</a:t>
                      </a:r>
                      <a:r>
                        <a:rPr lang="es-CO" sz="1300" cap="none" spc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113523" marR="66145" marT="87325" marB="87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292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224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EE4A88-5F3A-6CA8-E63F-0511B815A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s-MX" dirty="0"/>
              <a:t>Registros de segmento</a:t>
            </a:r>
            <a:endParaRPr lang="es-CO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137FB80-EE10-B7CF-12F5-245AA2F3FC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6327912"/>
              </p:ext>
            </p:extLst>
          </p:nvPr>
        </p:nvGraphicFramePr>
        <p:xfrm>
          <a:off x="700088" y="2308197"/>
          <a:ext cx="10691812" cy="3568758"/>
        </p:xfrm>
        <a:graphic>
          <a:graphicData uri="http://schemas.openxmlformats.org/drawingml/2006/table">
            <a:tbl>
              <a:tblPr/>
              <a:tblGrid>
                <a:gridCol w="2788700">
                  <a:extLst>
                    <a:ext uri="{9D8B030D-6E8A-4147-A177-3AD203B41FA5}">
                      <a16:colId xmlns:a16="http://schemas.microsoft.com/office/drawing/2014/main" val="2553364623"/>
                    </a:ext>
                  </a:extLst>
                </a:gridCol>
                <a:gridCol w="7903112">
                  <a:extLst>
                    <a:ext uri="{9D8B030D-6E8A-4147-A177-3AD203B41FA5}">
                      <a16:colId xmlns:a16="http://schemas.microsoft.com/office/drawing/2014/main" val="844222756"/>
                    </a:ext>
                  </a:extLst>
                </a:gridCol>
              </a:tblGrid>
              <a:tr h="594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2700" b="0" i="0" u="none" strike="noStrike">
                          <a:effectLst/>
                          <a:latin typeface="Arial" panose="020B0604020202020204" pitchFamily="34" charset="0"/>
                        </a:rPr>
                        <a:t>Registro</a:t>
                      </a:r>
                    </a:p>
                  </a:txBody>
                  <a:tcPr marL="135180" marR="135180" marT="67590" marB="67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2700" b="0" i="0" u="none" strike="noStrike">
                          <a:effectLst/>
                          <a:latin typeface="Arial" panose="020B0604020202020204" pitchFamily="34" charset="0"/>
                        </a:rPr>
                        <a:t>Uso</a:t>
                      </a:r>
                    </a:p>
                  </a:txBody>
                  <a:tcPr marL="135180" marR="135180" marT="67590" marB="67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723890"/>
                  </a:ext>
                </a:extLst>
              </a:tr>
              <a:tr h="594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2700" b="0" i="0" u="none" strike="noStrike">
                          <a:effectLst/>
                          <a:latin typeface="Arial" panose="020B0604020202020204" pitchFamily="34" charset="0"/>
                        </a:rPr>
                        <a:t>CS</a:t>
                      </a:r>
                    </a:p>
                  </a:txBody>
                  <a:tcPr marL="135180" marR="135180" marT="67590" marB="67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2700" b="0" i="0" u="none" strike="noStrike">
                          <a:effectLst/>
                          <a:latin typeface="Arial" panose="020B0604020202020204" pitchFamily="34" charset="0"/>
                        </a:rPr>
                        <a:t>Segmento de código</a:t>
                      </a:r>
                    </a:p>
                  </a:txBody>
                  <a:tcPr marL="135180" marR="135180" marT="67590" marB="67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696932"/>
                  </a:ext>
                </a:extLst>
              </a:tr>
              <a:tr h="594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2700" b="0" i="0" u="none" strike="noStrike">
                          <a:effectLst/>
                          <a:latin typeface="Arial" panose="020B0604020202020204" pitchFamily="34" charset="0"/>
                        </a:rPr>
                        <a:t>DS</a:t>
                      </a:r>
                    </a:p>
                  </a:txBody>
                  <a:tcPr marL="135180" marR="135180" marT="67590" marB="67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2700" b="0" i="0" u="none" strike="noStrike">
                          <a:effectLst/>
                          <a:latin typeface="Arial" panose="020B0604020202020204" pitchFamily="34" charset="0"/>
                        </a:rPr>
                        <a:t>Segmento de datos</a:t>
                      </a:r>
                    </a:p>
                  </a:txBody>
                  <a:tcPr marL="135180" marR="135180" marT="67590" marB="67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582857"/>
                  </a:ext>
                </a:extLst>
              </a:tr>
              <a:tr h="594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2700" b="0" i="0" u="none" strike="noStrike">
                          <a:effectLst/>
                          <a:latin typeface="Arial" panose="020B0604020202020204" pitchFamily="34" charset="0"/>
                        </a:rPr>
                        <a:t>SS</a:t>
                      </a:r>
                    </a:p>
                  </a:txBody>
                  <a:tcPr marL="135180" marR="135180" marT="67590" marB="67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2700" b="0" i="0" u="none" strike="noStrike">
                          <a:effectLst/>
                          <a:latin typeface="Arial" panose="020B0604020202020204" pitchFamily="34" charset="0"/>
                        </a:rPr>
                        <a:t>Segmento de pila (stack)</a:t>
                      </a:r>
                    </a:p>
                  </a:txBody>
                  <a:tcPr marL="135180" marR="135180" marT="67590" marB="67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64283"/>
                  </a:ext>
                </a:extLst>
              </a:tr>
              <a:tr h="594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2700" b="0" i="0" u="none" strike="noStrike">
                          <a:effectLst/>
                          <a:latin typeface="Arial" panose="020B0604020202020204" pitchFamily="34" charset="0"/>
                        </a:rPr>
                        <a:t>ES</a:t>
                      </a:r>
                    </a:p>
                  </a:txBody>
                  <a:tcPr marL="135180" marR="135180" marT="67590" marB="67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2700" b="0" i="0" u="none" strike="noStrike">
                          <a:effectLst/>
                          <a:latin typeface="Arial" panose="020B0604020202020204" pitchFamily="34" charset="0"/>
                        </a:rPr>
                        <a:t>Segmento extra (cadenas, memoria)</a:t>
                      </a:r>
                    </a:p>
                  </a:txBody>
                  <a:tcPr marL="135180" marR="135180" marT="67590" marB="67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451438"/>
                  </a:ext>
                </a:extLst>
              </a:tr>
              <a:tr h="594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2700" b="0" i="0" u="none" strike="noStrike">
                          <a:effectLst/>
                          <a:latin typeface="Arial" panose="020B0604020202020204" pitchFamily="34" charset="0"/>
                        </a:rPr>
                        <a:t>FS, GS</a:t>
                      </a:r>
                    </a:p>
                  </a:txBody>
                  <a:tcPr marL="135180" marR="135180" marT="67590" marB="67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2700" b="0" i="0" u="none" strike="noStrike" dirty="0">
                          <a:effectLst/>
                          <a:latin typeface="Arial" panose="020B0604020202020204" pitchFamily="34" charset="0"/>
                        </a:rPr>
                        <a:t>Segmentos adicionales (sistema, hilos)</a:t>
                      </a:r>
                    </a:p>
                  </a:txBody>
                  <a:tcPr marL="135180" marR="135180" marT="67590" marB="67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789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906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A805E3-4823-38CF-A8D4-223F5BC58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s-MX" dirty="0"/>
              <a:t>Registros de control (algunos)</a:t>
            </a:r>
            <a:endParaRPr lang="es-CO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DB7671A-2226-9432-3694-D1A4164195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4150765"/>
              </p:ext>
            </p:extLst>
          </p:nvPr>
        </p:nvGraphicFramePr>
        <p:xfrm>
          <a:off x="1161151" y="2483231"/>
          <a:ext cx="9769688" cy="3218688"/>
        </p:xfrm>
        <a:graphic>
          <a:graphicData uri="http://schemas.openxmlformats.org/drawingml/2006/table">
            <a:tbl>
              <a:tblPr/>
              <a:tblGrid>
                <a:gridCol w="2230544">
                  <a:extLst>
                    <a:ext uri="{9D8B030D-6E8A-4147-A177-3AD203B41FA5}">
                      <a16:colId xmlns:a16="http://schemas.microsoft.com/office/drawing/2014/main" val="4173043208"/>
                    </a:ext>
                  </a:extLst>
                </a:gridCol>
                <a:gridCol w="7539144">
                  <a:extLst>
                    <a:ext uri="{9D8B030D-6E8A-4147-A177-3AD203B41FA5}">
                      <a16:colId xmlns:a16="http://schemas.microsoft.com/office/drawing/2014/main" val="616293364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s-CO" sz="3300"/>
                        <a:t>Registro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3300"/>
                        <a:t>Descripción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62771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r>
                        <a:rPr lang="es-CO" sz="3300"/>
                        <a:t>EIP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3300" b="1"/>
                        <a:t>Instruction Pointer</a:t>
                      </a:r>
                      <a:r>
                        <a:rPr lang="es-MX" sz="3300"/>
                        <a:t> – Dirección de la siguiente instrucción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379885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r>
                        <a:rPr lang="es-CO" sz="3300"/>
                        <a:t>EFLAGS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3300" dirty="0"/>
                        <a:t>Flags de estado (</a:t>
                      </a:r>
                      <a:r>
                        <a:rPr lang="pt-BR" sz="3300" dirty="0" err="1"/>
                        <a:t>carry</a:t>
                      </a:r>
                      <a:r>
                        <a:rPr lang="pt-BR" sz="3300" dirty="0"/>
                        <a:t>, zero, </a:t>
                      </a:r>
                      <a:r>
                        <a:rPr lang="pt-BR" sz="3300" dirty="0" err="1"/>
                        <a:t>sign</a:t>
                      </a:r>
                      <a:r>
                        <a:rPr lang="pt-BR" sz="3300" dirty="0"/>
                        <a:t>, etc.)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644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4595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75A9E1-F86D-6973-2844-2496EBB13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86" y="908651"/>
            <a:ext cx="5230366" cy="40054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800" dirty="0" err="1"/>
              <a:t>procesador</a:t>
            </a:r>
            <a:endParaRPr lang="en-US" sz="68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Marcador de contenido 12" descr="Diagrama&#10;&#10;El contenido generado por IA puede ser incorrecto.">
            <a:extLst>
              <a:ext uri="{FF2B5EF4-FFF2-40B4-BE49-F238E27FC236}">
                <a16:creationId xmlns:a16="http://schemas.microsoft.com/office/drawing/2014/main" id="{BAFADF2F-44D4-4EF8-A5A3-ABA484333D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062" y="2172668"/>
            <a:ext cx="4348932" cy="2645600"/>
          </a:xfr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5D27BB7C-20E2-6485-A0BE-6969916AB891}"/>
              </a:ext>
            </a:extLst>
          </p:cNvPr>
          <p:cNvSpPr/>
          <p:nvPr/>
        </p:nvSpPr>
        <p:spPr>
          <a:xfrm>
            <a:off x="8975677" y="2162713"/>
            <a:ext cx="183115" cy="214355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E655A19-383B-9C23-9F90-A56BF7543E95}"/>
              </a:ext>
            </a:extLst>
          </p:cNvPr>
          <p:cNvSpPr txBox="1"/>
          <p:nvPr/>
        </p:nvSpPr>
        <p:spPr>
          <a:xfrm>
            <a:off x="395004" y="1996614"/>
            <a:ext cx="661905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 Nova" panose="020B0504020202020204" pitchFamily="34" charset="0"/>
              </a:rPr>
              <a:t>Unidad funcional de una computadora u otro dispositivo electrónico, que se encarga de la búsqueda, interpretación y ejecución de instrucciones.</a:t>
            </a:r>
          </a:p>
          <a:p>
            <a:pPr algn="just"/>
            <a:endParaRPr lang="es-MX" dirty="0">
              <a:latin typeface="Arial Nova" panose="020B0504020202020204" pitchFamily="34" charset="0"/>
            </a:endParaRPr>
          </a:p>
          <a:p>
            <a:pPr algn="just">
              <a:buNone/>
            </a:pPr>
            <a:r>
              <a:rPr lang="es-MX" dirty="0">
                <a:latin typeface="Arial Nova" panose="020B0504020202020204" pitchFamily="34" charset="0"/>
              </a:rPr>
              <a:t>La arquitectura de un procesador se refiere a cómo está diseñado internamente, especialmente en términos de: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>
                <a:latin typeface="Arial Nova" panose="020B0504020202020204" pitchFamily="34" charset="0"/>
              </a:rPr>
              <a:t> Tamaño de los datos que puede manejar (bits)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>
                <a:latin typeface="Arial Nova" panose="020B0504020202020204" pitchFamily="34" charset="0"/>
              </a:rPr>
              <a:t> Instrucciones que puede ejecutar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>
                <a:latin typeface="Arial Nova" panose="020B0504020202020204" pitchFamily="34" charset="0"/>
              </a:rPr>
              <a:t> Cantidad de memoria que puede direccionar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>
                <a:latin typeface="Arial Nova" panose="020B0504020202020204" pitchFamily="34" charset="0"/>
              </a:rPr>
              <a:t> Registros internos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dirty="0">
              <a:latin typeface="Arial Nova" panose="020B05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s-MX" dirty="0">
              <a:latin typeface="Arial Nova" panose="020B0504020202020204" pitchFamily="34" charset="0"/>
            </a:endParaRPr>
          </a:p>
          <a:p>
            <a:pPr algn="just"/>
            <a:endParaRPr lang="es-CO" sz="2000" dirty="0">
              <a:latin typeface="Arial Nova" panose="020B0504020202020204" pitchFamily="34" charset="0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8DC29F40-9140-BD64-5BD3-229E465AA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004" y="4940368"/>
            <a:ext cx="646496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dirty="0">
                <a:latin typeface="Arial Nova" panose="020B0504020202020204" pitchFamily="34" charset="0"/>
              </a:rPr>
              <a:t>Cuando decimos que una CPU tiene arquitectura de 4, 8, 16, 32 o 64 bits, nos referimos principalmente a: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b="1" dirty="0">
                <a:latin typeface="Arial Nova" panose="020B0504020202020204" pitchFamily="34" charset="0"/>
              </a:rPr>
              <a:t>El tamaño de los datos y registros que puede procesar en una sola operación.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25A219B4-8A23-F714-6E4E-FCC3E7230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7356"/>
            <a:ext cx="6464968" cy="45719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6324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5E90C-D292-2726-F4F6-3A5C0FB7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Modos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DA3CC5-1D46-129F-9BC2-99FCD8874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76552"/>
            <a:ext cx="10691265" cy="3739896"/>
          </a:xfrm>
        </p:spPr>
        <p:txBody>
          <a:bodyPr/>
          <a:lstStyle/>
          <a:p>
            <a:r>
              <a:rPr lang="es-MX" dirty="0"/>
              <a:t>Formas en las que trabaja un procesador x86 o x86_64</a:t>
            </a:r>
          </a:p>
          <a:p>
            <a:r>
              <a:rPr lang="es-MX" dirty="0"/>
              <a:t>Cada modo tiene sus propias capacidades y limitaciones, y afecta cómo se escribe y se ejecuta código en ensamblador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12094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54D138-2F31-AD50-B34D-8F6F366F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Modo real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90E48D-C64D-4817-8FFD-E333395A1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 el modo original de los procesadores Intel 8086</a:t>
            </a:r>
          </a:p>
          <a:p>
            <a:r>
              <a:rPr lang="es-MX" b="1" dirty="0"/>
              <a:t>Características:</a:t>
            </a:r>
          </a:p>
          <a:p>
            <a:pPr lvl="1"/>
            <a:r>
              <a:rPr lang="es-MX" dirty="0"/>
              <a:t>Sólo puede usar 1 MB de memoria</a:t>
            </a:r>
          </a:p>
          <a:p>
            <a:pPr lvl="1"/>
            <a:r>
              <a:rPr lang="es-MX" dirty="0"/>
              <a:t>Accede a memoria con segmentos y desplazamientos:</a:t>
            </a:r>
          </a:p>
          <a:p>
            <a:pPr lvl="2"/>
            <a:r>
              <a:rPr lang="es-MX" dirty="0"/>
              <a:t>Dirección = segmento *16 +desplazamiento</a:t>
            </a:r>
          </a:p>
          <a:p>
            <a:pPr lvl="1"/>
            <a:r>
              <a:rPr lang="es-MX" dirty="0"/>
              <a:t>No hay protección: Un programa puede sobrescribir cualquier parte de la memoria, incluso la del sistema</a:t>
            </a:r>
            <a:endParaRPr lang="es-CO" dirty="0"/>
          </a:p>
          <a:p>
            <a:pPr lvl="1"/>
            <a:r>
              <a:rPr lang="es-CO" dirty="0"/>
              <a:t>Solo se puede ejecutar código de 16 bits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71401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294BA-3761-7945-B847-AA17A54C0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Modo protegido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CCB8D1-4569-C804-227B-74D813808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Introducido con los procesadores Intel 80286 y mejorado con el Intel 80386</a:t>
            </a:r>
          </a:p>
          <a:p>
            <a:r>
              <a:rPr lang="es-MX" b="1" dirty="0"/>
              <a:t>Características:</a:t>
            </a:r>
          </a:p>
          <a:p>
            <a:pPr lvl="1"/>
            <a:r>
              <a:rPr lang="es-MX" dirty="0"/>
              <a:t>Puede usar hasta 4 GB de memoria (o más con extensiones)</a:t>
            </a:r>
          </a:p>
          <a:p>
            <a:pPr lvl="1"/>
            <a:r>
              <a:rPr lang="es-MX" dirty="0"/>
              <a:t>Permite segmentación avanzada y paginación (manejo de memoria más sofisticado)</a:t>
            </a:r>
          </a:p>
          <a:p>
            <a:pPr lvl="1"/>
            <a:r>
              <a:rPr lang="es-MX" dirty="0"/>
              <a:t>Tiene protección de memoria: Un programa no puede acceder a zonas que no le pertenecen</a:t>
            </a:r>
          </a:p>
          <a:p>
            <a:pPr lvl="1"/>
            <a:r>
              <a:rPr lang="es-MX" dirty="0"/>
              <a:t>Se puede usar código de 32 bits</a:t>
            </a:r>
          </a:p>
        </p:txBody>
      </p:sp>
    </p:spTree>
    <p:extLst>
      <p:ext uri="{BB962C8B-B14F-4D97-AF65-F5344CB8AC3E}">
        <p14:creationId xmlns:p14="http://schemas.microsoft.com/office/powerpoint/2010/main" val="1444414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B5CF2-50ED-81DF-0899-A8C6CA8A3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Modo largo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A01C4A-52A3-17B3-0931-1E3AB3AB2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Introducido con los procesadores de 64 bits (AMD 64, Intel  x86_64)</a:t>
            </a:r>
          </a:p>
          <a:p>
            <a:r>
              <a:rPr lang="es-MX" b="1" dirty="0"/>
              <a:t>Características:</a:t>
            </a:r>
          </a:p>
          <a:p>
            <a:pPr lvl="1"/>
            <a:r>
              <a:rPr lang="es-MX" dirty="0"/>
              <a:t>Soporta más de 4 GB de memoria RAM</a:t>
            </a:r>
          </a:p>
          <a:p>
            <a:pPr lvl="1"/>
            <a:r>
              <a:rPr lang="es-MX" dirty="0"/>
              <a:t>Se puede usar código de 64 bits</a:t>
            </a:r>
          </a:p>
          <a:p>
            <a:pPr lvl="1"/>
            <a:r>
              <a:rPr lang="es-MX" dirty="0"/>
              <a:t>Usa registros como RAX, RBX, RIP, </a:t>
            </a:r>
            <a:r>
              <a:rPr lang="es-MX" dirty="0" err="1"/>
              <a:t>etc</a:t>
            </a:r>
            <a:endParaRPr lang="es-MX" dirty="0"/>
          </a:p>
          <a:p>
            <a:pPr lvl="1"/>
            <a:r>
              <a:rPr lang="es-MX" dirty="0"/>
              <a:t>Sigue teniendo protección de memoria, segmentación mínima y paginación avanzada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71362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D0C006-2DD8-B7A5-7621-52259D2D8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7315" y="897730"/>
            <a:ext cx="5201121" cy="1318062"/>
          </a:xfrm>
        </p:spPr>
        <p:txBody>
          <a:bodyPr>
            <a:normAutofit/>
          </a:bodyPr>
          <a:lstStyle/>
          <a:p>
            <a:r>
              <a:rPr lang="es-MX" dirty="0"/>
              <a:t>Arquitectura X86</a:t>
            </a:r>
            <a:endParaRPr lang="es-CO" dirty="0"/>
          </a:p>
        </p:txBody>
      </p:sp>
      <p:cxnSp>
        <p:nvCxnSpPr>
          <p:cNvPr id="17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739" y="722376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C09289-5908-272C-0A67-174CF3958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315" y="1632016"/>
            <a:ext cx="6206006" cy="19132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>
                <a:latin typeface="Arial Nova" panose="020B0504020202020204" pitchFamily="34" charset="0"/>
              </a:rPr>
              <a:t>Familia de procesadores desarrollada por Intel, muy usada desde los años 70 hasta hoy. Su evolución marca muchos de los conceptos que vamos a usar en ensamblador.</a:t>
            </a:r>
          </a:p>
          <a:p>
            <a:pPr marL="0" indent="0">
              <a:buNone/>
            </a:pPr>
            <a:endParaRPr lang="es-MX" dirty="0">
              <a:latin typeface="Arial Nova" panose="020B0504020202020204" pitchFamily="34" charset="0"/>
            </a:endParaRPr>
          </a:p>
          <a:p>
            <a:pPr marL="0" indent="0">
              <a:buNone/>
            </a:pPr>
            <a:endParaRPr lang="es-CO" dirty="0">
              <a:latin typeface="Arial Nova" panose="020B0504020202020204" pitchFamily="34" charset="0"/>
            </a:endParaRPr>
          </a:p>
        </p:txBody>
      </p:sp>
      <p:pic>
        <p:nvPicPr>
          <p:cNvPr id="7" name="Imagen 6" descr="Un circuito electrónico&#10;&#10;El contenido generado por IA puede ser incorrecto.">
            <a:extLst>
              <a:ext uri="{FF2B5EF4-FFF2-40B4-BE49-F238E27FC236}">
                <a16:creationId xmlns:a16="http://schemas.microsoft.com/office/drawing/2014/main" id="{BEF5137A-EBBF-32A0-BF1E-A461485C4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358122"/>
            <a:ext cx="3863340" cy="257556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1BD2957-042C-F522-6DD2-814F837779BA}"/>
              </a:ext>
            </a:extLst>
          </p:cNvPr>
          <p:cNvSpPr txBox="1"/>
          <p:nvPr/>
        </p:nvSpPr>
        <p:spPr>
          <a:xfrm>
            <a:off x="438150" y="2919402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Arial Nova" panose="020B0504020202020204" pitchFamily="34" charset="0"/>
              </a:rPr>
              <a:t>Intel 8086 (1978)</a:t>
            </a:r>
            <a:endParaRPr lang="es-CO" dirty="0">
              <a:latin typeface="Arial Nova" panose="020B05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30A063C-BFCB-76C1-FF52-F8CF49F36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991" y="3429000"/>
            <a:ext cx="2828449" cy="218511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7E754E2-5F95-83C6-D3DF-F318415F094D}"/>
              </a:ext>
            </a:extLst>
          </p:cNvPr>
          <p:cNvSpPr txBox="1"/>
          <p:nvPr/>
        </p:nvSpPr>
        <p:spPr>
          <a:xfrm>
            <a:off x="506015" y="5754382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Arial Nova" panose="020B0504020202020204" pitchFamily="34" charset="0"/>
              </a:rPr>
              <a:t>Intel 80286 (1982)</a:t>
            </a:r>
            <a:endParaRPr lang="es-CO" dirty="0">
              <a:latin typeface="Arial Nova" panose="020B0504020202020204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B6BD14B-39DA-1854-655A-DB0F19618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056" y="3429000"/>
            <a:ext cx="6514327" cy="293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65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0515F9-2FDA-9089-7B30-B94EA42A7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sz="3700"/>
              <a:t>RESUMEN DE LA HISTORIA DE LA ARQUITECTURA X86 </a:t>
            </a:r>
            <a:endParaRPr lang="es-CO" sz="37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B069C92-7661-0010-9905-A84EF379FD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858092"/>
              </p:ext>
            </p:extLst>
          </p:nvPr>
        </p:nvGraphicFramePr>
        <p:xfrm>
          <a:off x="1164668" y="2222500"/>
          <a:ext cx="9762654" cy="3740155"/>
        </p:xfrm>
        <a:graphic>
          <a:graphicData uri="http://schemas.openxmlformats.org/drawingml/2006/table">
            <a:tbl>
              <a:tblPr firstRow="1" bandRow="1"/>
              <a:tblGrid>
                <a:gridCol w="1723765">
                  <a:extLst>
                    <a:ext uri="{9D8B030D-6E8A-4147-A177-3AD203B41FA5}">
                      <a16:colId xmlns:a16="http://schemas.microsoft.com/office/drawing/2014/main" val="3100626538"/>
                    </a:ext>
                  </a:extLst>
                </a:gridCol>
                <a:gridCol w="2964046">
                  <a:extLst>
                    <a:ext uri="{9D8B030D-6E8A-4147-A177-3AD203B41FA5}">
                      <a16:colId xmlns:a16="http://schemas.microsoft.com/office/drawing/2014/main" val="2225115282"/>
                    </a:ext>
                  </a:extLst>
                </a:gridCol>
                <a:gridCol w="1538725">
                  <a:extLst>
                    <a:ext uri="{9D8B030D-6E8A-4147-A177-3AD203B41FA5}">
                      <a16:colId xmlns:a16="http://schemas.microsoft.com/office/drawing/2014/main" val="978813187"/>
                    </a:ext>
                  </a:extLst>
                </a:gridCol>
                <a:gridCol w="3536118">
                  <a:extLst>
                    <a:ext uri="{9D8B030D-6E8A-4147-A177-3AD203B41FA5}">
                      <a16:colId xmlns:a16="http://schemas.microsoft.com/office/drawing/2014/main" val="2404598666"/>
                    </a:ext>
                  </a:extLst>
                </a:gridCol>
              </a:tblGrid>
              <a:tr h="323254"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Año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Procesador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Bits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Qué aportó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477482"/>
                  </a:ext>
                </a:extLst>
              </a:tr>
              <a:tr h="530971"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1971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 b="1"/>
                        <a:t>Intel 4004</a:t>
                      </a:r>
                      <a:endParaRPr lang="es-CO" sz="1400"/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4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Primer microprocesador (usado en calculadoras)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014251"/>
                  </a:ext>
                </a:extLst>
              </a:tr>
              <a:tr h="323254"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1978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 b="1"/>
                        <a:t>Intel 8086</a:t>
                      </a:r>
                      <a:endParaRPr lang="es-CO" sz="1400"/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16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Nace la arquitectura x86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389671"/>
                  </a:ext>
                </a:extLst>
              </a:tr>
              <a:tr h="530971"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1981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 b="1"/>
                        <a:t>Intel 8088</a:t>
                      </a:r>
                      <a:endParaRPr lang="es-CO" sz="1400"/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16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400"/>
                        <a:t>Usado en el IBM PC (con bus externo de 8 bits)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558484"/>
                  </a:ext>
                </a:extLst>
              </a:tr>
              <a:tr h="323254"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1982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 b="1" dirty="0"/>
                        <a:t>Intel 80286</a:t>
                      </a:r>
                      <a:endParaRPr lang="es-CO" sz="1400" dirty="0"/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16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Introduce el </a:t>
                      </a:r>
                      <a:r>
                        <a:rPr lang="es-CO" sz="1400" b="1"/>
                        <a:t>modo protegido</a:t>
                      </a:r>
                      <a:endParaRPr lang="es-CO" sz="1400"/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067996"/>
                  </a:ext>
                </a:extLst>
              </a:tr>
              <a:tr h="323254"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1985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 b="1" dirty="0"/>
                        <a:t>Intel 80386</a:t>
                      </a:r>
                      <a:endParaRPr lang="es-CO" sz="1400" dirty="0"/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32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Soporte multitarea, 4 GB de memoria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387083"/>
                  </a:ext>
                </a:extLst>
              </a:tr>
              <a:tr h="323254"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1989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 b="1"/>
                        <a:t>Intel 80486</a:t>
                      </a:r>
                      <a:endParaRPr lang="es-CO" sz="1400"/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32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400"/>
                        <a:t>Integra coprocesador matemático y caché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285620"/>
                  </a:ext>
                </a:extLst>
              </a:tr>
              <a:tr h="323254"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1993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 b="1"/>
                        <a:t>Pentium</a:t>
                      </a:r>
                      <a:endParaRPr lang="es-CO" sz="1400"/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32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Mayor velocidad y paralelismo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953740"/>
                  </a:ext>
                </a:extLst>
              </a:tr>
              <a:tr h="738689"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2003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 b="1"/>
                        <a:t>AMD64</a:t>
                      </a:r>
                      <a:endParaRPr lang="es-CO" sz="1400"/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/>
                        <a:t>64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400" dirty="0"/>
                        <a:t>Nace la arquitectura </a:t>
                      </a:r>
                      <a:r>
                        <a:rPr lang="es-MX" sz="1400" b="1" dirty="0"/>
                        <a:t>x86-64</a:t>
                      </a:r>
                      <a:r>
                        <a:rPr lang="es-MX" sz="1400" dirty="0"/>
                        <a:t> (o AMD64), base de todos los procesadores actuales de Intel y AMD</a:t>
                      </a:r>
                    </a:p>
                  </a:txBody>
                  <a:tcPr marL="70217" marR="70217" marT="35108" marB="35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837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0215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E3DD2-3A5A-0C28-DFBB-F439A397B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35" y="975360"/>
            <a:ext cx="6599325" cy="646331"/>
          </a:xfrm>
        </p:spPr>
        <p:txBody>
          <a:bodyPr>
            <a:normAutofit/>
          </a:bodyPr>
          <a:lstStyle/>
          <a:p>
            <a:pPr algn="ctr"/>
            <a:r>
              <a:rPr lang="es-MX" sz="2300" b="1" dirty="0">
                <a:latin typeface="Arial Nova" panose="020B0504020202020204" pitchFamily="34" charset="0"/>
              </a:rPr>
              <a:t>BIG-</a:t>
            </a:r>
            <a:r>
              <a:rPr lang="es-MX" sz="2300" b="1" dirty="0" err="1">
                <a:latin typeface="Arial Nova" panose="020B0504020202020204" pitchFamily="34" charset="0"/>
              </a:rPr>
              <a:t>endian</a:t>
            </a:r>
            <a:r>
              <a:rPr lang="es-MX" sz="2300" b="1" dirty="0">
                <a:latin typeface="Arial Nova" panose="020B0504020202020204" pitchFamily="34" charset="0"/>
              </a:rPr>
              <a:t> (orden natural)</a:t>
            </a:r>
            <a:endParaRPr lang="es-CO" sz="2300" b="1" dirty="0">
              <a:latin typeface="Arial Nova" panose="020B05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1B28F3-44A2-0C10-1EA2-7A147F5BE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041" y="1621691"/>
            <a:ext cx="5730240" cy="4724400"/>
          </a:xfrm>
        </p:spPr>
        <p:txBody>
          <a:bodyPr>
            <a:noAutofit/>
          </a:bodyPr>
          <a:lstStyle/>
          <a:p>
            <a:pPr algn="just"/>
            <a:r>
              <a:rPr lang="es-MX" sz="1900" dirty="0"/>
              <a:t>El byte más significativo (MSB) se guarda en la dirección de memoria más baja </a:t>
            </a:r>
          </a:p>
          <a:p>
            <a:pPr algn="just"/>
            <a:r>
              <a:rPr lang="es-MX" sz="1900" dirty="0"/>
              <a:t>“Es como escribimos los números normalmente de izquierda a derecha”</a:t>
            </a:r>
          </a:p>
          <a:p>
            <a:pPr marL="0" indent="0" algn="just">
              <a:buNone/>
            </a:pPr>
            <a:r>
              <a:rPr lang="es-CO" sz="1900" b="1" dirty="0"/>
              <a:t>Ejemplo:</a:t>
            </a:r>
          </a:p>
          <a:p>
            <a:pPr marL="0" indent="0" algn="just">
              <a:buNone/>
            </a:pPr>
            <a:r>
              <a:rPr lang="es-CO" sz="1900" dirty="0"/>
              <a:t>Valor en hexadecimal: 0x12345678</a:t>
            </a:r>
          </a:p>
          <a:p>
            <a:pPr marL="0" indent="0" algn="just">
              <a:buNone/>
            </a:pPr>
            <a:r>
              <a:rPr lang="es-CO" sz="1900" dirty="0"/>
              <a:t>Memoria (direcciones):</a:t>
            </a:r>
          </a:p>
          <a:p>
            <a:pPr marL="0" indent="0" algn="just">
              <a:buNone/>
            </a:pPr>
            <a:r>
              <a:rPr lang="es-CO" sz="1900" dirty="0"/>
              <a:t>[0x00] = 12</a:t>
            </a:r>
          </a:p>
          <a:p>
            <a:pPr marL="0" indent="0" algn="just">
              <a:buNone/>
            </a:pPr>
            <a:r>
              <a:rPr lang="es-CO" sz="1900" dirty="0"/>
              <a:t>[0x01] = 34</a:t>
            </a:r>
          </a:p>
          <a:p>
            <a:pPr marL="0" indent="0" algn="just">
              <a:buNone/>
            </a:pPr>
            <a:r>
              <a:rPr lang="es-CO" sz="1900" dirty="0"/>
              <a:t>[0x02] = 56</a:t>
            </a:r>
          </a:p>
          <a:p>
            <a:pPr marL="0" indent="0" algn="just">
              <a:buNone/>
            </a:pPr>
            <a:r>
              <a:rPr lang="es-CO" sz="1900" dirty="0"/>
              <a:t>[0x03] = 78</a:t>
            </a:r>
            <a:endParaRPr lang="es-MX" sz="19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F264311-6B45-42D0-F766-B0D5F23D14AA}"/>
              </a:ext>
            </a:extLst>
          </p:cNvPr>
          <p:cNvSpPr txBox="1"/>
          <p:nvPr/>
        </p:nvSpPr>
        <p:spPr>
          <a:xfrm>
            <a:off x="701040" y="60960"/>
            <a:ext cx="10683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latin typeface="Arial Nova" panose="020B0504020202020204" pitchFamily="34" charset="0"/>
              </a:rPr>
              <a:t>ORDEN DE LOS BYTES EN MEMORIA</a:t>
            </a:r>
            <a:endParaRPr lang="es-CO" sz="3600" b="1" dirty="0">
              <a:latin typeface="Arial Nova" panose="020B05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CD1309F-EFF7-E752-D203-51142EA19F33}"/>
              </a:ext>
            </a:extLst>
          </p:cNvPr>
          <p:cNvSpPr txBox="1">
            <a:spLocks/>
          </p:cNvSpPr>
          <p:nvPr/>
        </p:nvSpPr>
        <p:spPr>
          <a:xfrm>
            <a:off x="5936182" y="975359"/>
            <a:ext cx="659932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300" b="1" dirty="0" err="1">
                <a:latin typeface="Arial Nova" panose="020B0504020202020204" pitchFamily="34" charset="0"/>
              </a:rPr>
              <a:t>little-endian</a:t>
            </a:r>
            <a:r>
              <a:rPr lang="es-MX" sz="2300" b="1" dirty="0">
                <a:latin typeface="Arial Nova" panose="020B0504020202020204" pitchFamily="34" charset="0"/>
              </a:rPr>
              <a:t> (orden invertido)</a:t>
            </a:r>
            <a:endParaRPr lang="es-CO" sz="2300" b="1" dirty="0">
              <a:latin typeface="Arial Nova" panose="020B05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69819AE4-D3F2-0327-858F-5E0D81C0C571}"/>
              </a:ext>
            </a:extLst>
          </p:cNvPr>
          <p:cNvSpPr txBox="1">
            <a:spLocks/>
          </p:cNvSpPr>
          <p:nvPr/>
        </p:nvSpPr>
        <p:spPr>
          <a:xfrm>
            <a:off x="6587995" y="1621690"/>
            <a:ext cx="5295697" cy="472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900" dirty="0"/>
              <a:t>El byte menos significativo (LSB) se guarda en la dirección de memoria más baja</a:t>
            </a:r>
          </a:p>
          <a:p>
            <a:pPr algn="just"/>
            <a:r>
              <a:rPr lang="es-MX" sz="1900" dirty="0"/>
              <a:t>Es como escribir el número al revés en memoria</a:t>
            </a:r>
          </a:p>
          <a:p>
            <a:pPr marL="0" indent="0" algn="just">
              <a:buNone/>
            </a:pPr>
            <a:r>
              <a:rPr lang="es-MX" sz="1900" b="1" dirty="0"/>
              <a:t>Ejemplo:</a:t>
            </a:r>
          </a:p>
          <a:p>
            <a:pPr marL="0" indent="0" algn="just">
              <a:buNone/>
            </a:pPr>
            <a:r>
              <a:rPr lang="es-MX" sz="1900" dirty="0"/>
              <a:t>Valor en hexadecimal: 0x12345678</a:t>
            </a:r>
          </a:p>
          <a:p>
            <a:pPr marL="0" indent="0" algn="just">
              <a:buNone/>
            </a:pPr>
            <a:r>
              <a:rPr lang="es-MX" sz="1900" dirty="0"/>
              <a:t>Memorias (direcciones):</a:t>
            </a:r>
          </a:p>
          <a:p>
            <a:pPr marL="0" indent="0" algn="just">
              <a:buNone/>
            </a:pPr>
            <a:r>
              <a:rPr lang="es-MX" sz="1900" dirty="0"/>
              <a:t>[0x00] = 78</a:t>
            </a:r>
          </a:p>
          <a:p>
            <a:pPr marL="0" indent="0" algn="just">
              <a:buNone/>
            </a:pPr>
            <a:r>
              <a:rPr lang="es-MX" sz="1900" dirty="0"/>
              <a:t>[0x01] = 56</a:t>
            </a:r>
          </a:p>
          <a:p>
            <a:pPr marL="0" indent="0" algn="just">
              <a:buNone/>
            </a:pPr>
            <a:r>
              <a:rPr lang="es-MX" sz="1900" dirty="0"/>
              <a:t>[0x02] = 34</a:t>
            </a:r>
          </a:p>
          <a:p>
            <a:pPr marL="0" indent="0" algn="just">
              <a:buNone/>
            </a:pPr>
            <a:r>
              <a:rPr lang="es-MX" sz="1900" dirty="0"/>
              <a:t>[0x03] = 12</a:t>
            </a:r>
          </a:p>
          <a:p>
            <a:pPr marL="0" indent="0" algn="just">
              <a:buNone/>
            </a:pPr>
            <a:endParaRPr lang="es-MX" sz="19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64C9465-6A48-3EC6-556F-696314E454F5}"/>
              </a:ext>
            </a:extLst>
          </p:cNvPr>
          <p:cNvSpPr txBox="1"/>
          <p:nvPr/>
        </p:nvSpPr>
        <p:spPr>
          <a:xfrm>
            <a:off x="701039" y="6285577"/>
            <a:ext cx="10683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Nota</a:t>
            </a:r>
            <a:r>
              <a:rPr lang="es-MX" dirty="0"/>
              <a:t>: Intel (y toda la arquitectura x86, incluyendo x86-64) trabaja con  Little </a:t>
            </a:r>
            <a:r>
              <a:rPr lang="es-MX" dirty="0" err="1"/>
              <a:t>Endian</a:t>
            </a:r>
            <a:r>
              <a:rPr lang="es-MX" dirty="0"/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39910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D1D03-3681-ACDB-CCD1-76D6CB24C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</a:t>
            </a:r>
            <a:endParaRPr lang="es-CO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1BDF707-5D7F-62F3-925A-F205A7CA6C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6120539"/>
              </p:ext>
            </p:extLst>
          </p:nvPr>
        </p:nvGraphicFramePr>
        <p:xfrm>
          <a:off x="700088" y="2222500"/>
          <a:ext cx="1069181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5906">
                  <a:extLst>
                    <a:ext uri="{9D8B030D-6E8A-4147-A177-3AD203B41FA5}">
                      <a16:colId xmlns:a16="http://schemas.microsoft.com/office/drawing/2014/main" val="2316280999"/>
                    </a:ext>
                  </a:extLst>
                </a:gridCol>
                <a:gridCol w="5345906">
                  <a:extLst>
                    <a:ext uri="{9D8B030D-6E8A-4147-A177-3AD203B41FA5}">
                      <a16:colId xmlns:a16="http://schemas.microsoft.com/office/drawing/2014/main" val="1764236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Concepto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Valor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578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Valor original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0123456789ABCDEFh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89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Bytes (</a:t>
                      </a:r>
                      <a:r>
                        <a:rPr lang="es-MX" dirty="0" err="1"/>
                        <a:t>big-endian</a:t>
                      </a:r>
                      <a:r>
                        <a:rPr lang="es-MX" dirty="0"/>
                        <a:t>)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01 23 45 67 89 AB CD EF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3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Bytes (</a:t>
                      </a:r>
                      <a:r>
                        <a:rPr lang="es-MX" dirty="0" err="1"/>
                        <a:t>litttle-endian</a:t>
                      </a:r>
                      <a:r>
                        <a:rPr lang="es-MX" dirty="0"/>
                        <a:t>)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EF CD AB 89 67 45 23 01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931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DWORD menos significativa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89ABCDEFh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092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DWORD más significativa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01234567h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268363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44E3C6FB-4AD2-5A64-79DB-1B54BFFE8F8A}"/>
              </a:ext>
            </a:extLst>
          </p:cNvPr>
          <p:cNvSpPr txBox="1"/>
          <p:nvPr/>
        </p:nvSpPr>
        <p:spPr>
          <a:xfrm>
            <a:off x="700088" y="4693920"/>
            <a:ext cx="1069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Nota:</a:t>
            </a:r>
            <a:r>
              <a:rPr lang="es-MX" dirty="0"/>
              <a:t> Recuerde que  dos dígitos hexadecimales son un byte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79838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F724DD-71AC-2C6D-8AA1-61C26299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023657"/>
            <a:ext cx="3794760" cy="2110444"/>
          </a:xfrm>
        </p:spPr>
        <p:txBody>
          <a:bodyPr>
            <a:normAutofit/>
          </a:bodyPr>
          <a:lstStyle/>
          <a:p>
            <a:r>
              <a:rPr lang="es-MX" dirty="0"/>
              <a:t>Lenguaje máquina</a:t>
            </a: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0AC1413-8D3E-F07F-04F5-24B77A6731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98" r="2" b="31363"/>
          <a:stretch>
            <a:fillRect/>
          </a:stretch>
        </p:blipFill>
        <p:spPr>
          <a:xfrm>
            <a:off x="800100" y="717656"/>
            <a:ext cx="10591800" cy="30861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4114590"/>
            <a:ext cx="9818" cy="20195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FBD4E8-31A3-19FE-B0C3-9B9A01818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0933" y="4088705"/>
            <a:ext cx="6135924" cy="209397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MX" sz="1900"/>
              <a:t>El lenguaje de máquina es aquel que es </a:t>
            </a:r>
            <a:r>
              <a:rPr lang="es-MX" sz="1900" b="1"/>
              <a:t>interpretado directamente por el procesador</a:t>
            </a:r>
            <a:r>
              <a:rPr lang="es-MX" sz="1900"/>
              <a:t>, por lo que su ejecución es mucho más rápida.</a:t>
            </a:r>
          </a:p>
          <a:p>
            <a:pPr>
              <a:lnSpc>
                <a:spcPct val="100000"/>
              </a:lnSpc>
            </a:pPr>
            <a:r>
              <a:rPr lang="es-MX" sz="1900"/>
              <a:t>Así mismo, consta de </a:t>
            </a:r>
            <a:r>
              <a:rPr lang="es-MX" sz="1900" b="1"/>
              <a:t>cadenas de números binarios (0s y 1s).</a:t>
            </a:r>
            <a:r>
              <a:rPr lang="es-MX" sz="1900"/>
              <a:t> Por esta razón, programar en este lenguaje es una tarea difícil que requiere una gran inversión de tiempo.</a:t>
            </a:r>
          </a:p>
          <a:p>
            <a:pPr>
              <a:lnSpc>
                <a:spcPct val="100000"/>
              </a:lnSpc>
            </a:pPr>
            <a:endParaRPr lang="es-CO" sz="1900"/>
          </a:p>
        </p:txBody>
      </p:sp>
    </p:spTree>
    <p:extLst>
      <p:ext uri="{BB962C8B-B14F-4D97-AF65-F5344CB8AC3E}">
        <p14:creationId xmlns:p14="http://schemas.microsoft.com/office/powerpoint/2010/main" val="359455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522ED4-EA8A-4A36-2B01-B0C524CCB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dirty="0"/>
              <a:t>¿</a:t>
            </a:r>
            <a:r>
              <a:rPr lang="en-US" sz="3100" dirty="0" err="1"/>
              <a:t>Qué</a:t>
            </a:r>
            <a:r>
              <a:rPr lang="en-US" sz="3100" dirty="0"/>
              <a:t> es </a:t>
            </a:r>
            <a:r>
              <a:rPr lang="en-US" sz="3100" dirty="0" err="1"/>
              <a:t>el</a:t>
            </a:r>
            <a:r>
              <a:rPr lang="en-US" sz="3100" dirty="0"/>
              <a:t> </a:t>
            </a:r>
            <a:r>
              <a:rPr lang="en-US" sz="3100" dirty="0" err="1"/>
              <a:t>lenguaje</a:t>
            </a:r>
            <a:r>
              <a:rPr lang="en-US" sz="3100" dirty="0"/>
              <a:t> </a:t>
            </a:r>
            <a:r>
              <a:rPr lang="en-US" sz="3100" dirty="0" err="1"/>
              <a:t>ensamblador</a:t>
            </a:r>
            <a:r>
              <a:rPr lang="en-US" sz="3100" dirty="0"/>
              <a:t>?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B7AC4E8C-8A0A-9E92-81AD-78CAD25A3B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820934"/>
            <a:ext cx="7353299" cy="521613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FA36648-679F-207D-1639-A40C7BB5B613}"/>
              </a:ext>
            </a:extLst>
          </p:cNvPr>
          <p:cNvSpPr txBox="1"/>
          <p:nvPr/>
        </p:nvSpPr>
        <p:spPr>
          <a:xfrm>
            <a:off x="800100" y="2499360"/>
            <a:ext cx="29617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El lenguaje ensamblador (</a:t>
            </a:r>
            <a:r>
              <a:rPr lang="es-MX" dirty="0" err="1"/>
              <a:t>assembler</a:t>
            </a:r>
            <a:r>
              <a:rPr lang="es-MX" dirty="0"/>
              <a:t> o </a:t>
            </a:r>
            <a:r>
              <a:rPr lang="es-MX" dirty="0" err="1"/>
              <a:t>asm</a:t>
            </a:r>
            <a:r>
              <a:rPr lang="es-MX" dirty="0"/>
              <a:t>) no es más que </a:t>
            </a:r>
            <a:r>
              <a:rPr lang="es-MX" b="1" dirty="0"/>
              <a:t>códigos mnemotécnicos (abreviaturas de letras y números) de las instrucciones máquina (binario)</a:t>
            </a:r>
            <a:r>
              <a:rPr lang="es-MX" dirty="0"/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16260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AEC6E-8ACA-062D-ED02-4EB822F84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9" y="1200150"/>
            <a:ext cx="10691265" cy="800100"/>
          </a:xfrm>
        </p:spPr>
        <p:txBody>
          <a:bodyPr>
            <a:normAutofit fontScale="90000"/>
          </a:bodyPr>
          <a:lstStyle/>
          <a:p>
            <a:r>
              <a:rPr lang="es-MX" dirty="0"/>
              <a:t>Ejemplo: Comparación entre arquitecturas</a:t>
            </a:r>
            <a:endParaRPr lang="es-CO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F1E3424-EA1F-EE17-1C7E-5580439292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9760632"/>
              </p:ext>
            </p:extLst>
          </p:nvPr>
        </p:nvGraphicFramePr>
        <p:xfrm>
          <a:off x="928688" y="2503805"/>
          <a:ext cx="10691811" cy="1463040"/>
        </p:xfrm>
        <a:graphic>
          <a:graphicData uri="http://schemas.openxmlformats.org/drawingml/2006/table">
            <a:tbl>
              <a:tblPr/>
              <a:tblGrid>
                <a:gridCol w="3563937">
                  <a:extLst>
                    <a:ext uri="{9D8B030D-6E8A-4147-A177-3AD203B41FA5}">
                      <a16:colId xmlns:a16="http://schemas.microsoft.com/office/drawing/2014/main" val="156518568"/>
                    </a:ext>
                  </a:extLst>
                </a:gridCol>
                <a:gridCol w="3563937">
                  <a:extLst>
                    <a:ext uri="{9D8B030D-6E8A-4147-A177-3AD203B41FA5}">
                      <a16:colId xmlns:a16="http://schemas.microsoft.com/office/drawing/2014/main" val="1358086313"/>
                    </a:ext>
                  </a:extLst>
                </a:gridCol>
                <a:gridCol w="3563937">
                  <a:extLst>
                    <a:ext uri="{9D8B030D-6E8A-4147-A177-3AD203B41FA5}">
                      <a16:colId xmlns:a16="http://schemas.microsoft.com/office/drawing/2014/main" val="7946001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/>
                        <a:t>Arquitectura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Registro principal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Instrucción de suma simple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033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16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ADD AX, BX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726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32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EAX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ADD EAX, EBX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00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64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RAX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ADD RAX, RBX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207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5680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45BFAF34-B172-C47E-9046-76ABC3E74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" y="1516202"/>
            <a:ext cx="5902666" cy="4259758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A521E27E-20D6-0B8D-0E26-B6C6FA20D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500539"/>
              </p:ext>
            </p:extLst>
          </p:nvPr>
        </p:nvGraphicFramePr>
        <p:xfrm>
          <a:off x="6786880" y="1823543"/>
          <a:ext cx="3931626" cy="36450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1626">
                  <a:extLst>
                    <a:ext uri="{9D8B030D-6E8A-4147-A177-3AD203B41FA5}">
                      <a16:colId xmlns:a16="http://schemas.microsoft.com/office/drawing/2014/main" val="247529005"/>
                    </a:ext>
                  </a:extLst>
                </a:gridCol>
              </a:tblGrid>
              <a:tr h="91126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Lenguaje De Alto Nivel</a:t>
                      </a:r>
                    </a:p>
                    <a:p>
                      <a:pPr algn="ctr"/>
                      <a:r>
                        <a:rPr lang="es-MX" dirty="0"/>
                        <a:t>Nivel 4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378146"/>
                  </a:ext>
                </a:extLst>
              </a:tr>
              <a:tr h="91126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Lenguaje Ensamblador</a:t>
                      </a:r>
                    </a:p>
                    <a:p>
                      <a:pPr algn="ctr"/>
                      <a:r>
                        <a:rPr lang="es-MX" dirty="0"/>
                        <a:t>Nivel 3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537873"/>
                  </a:ext>
                </a:extLst>
              </a:tr>
              <a:tr h="91126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Sistema Operativo</a:t>
                      </a:r>
                    </a:p>
                    <a:p>
                      <a:pPr algn="ctr"/>
                      <a:r>
                        <a:rPr lang="es-MX" dirty="0"/>
                        <a:t>Nivel 2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942974"/>
                  </a:ext>
                </a:extLst>
              </a:tr>
              <a:tr h="91126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CPU</a:t>
                      </a:r>
                    </a:p>
                    <a:p>
                      <a:pPr algn="ctr"/>
                      <a:r>
                        <a:rPr lang="es-MX" dirty="0"/>
                        <a:t>Nivel 1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164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81227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A3783-D3B4-0553-76DF-C73F6877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MX" dirty="0"/>
              <a:t>Herramientas para programar en ensamblador</a:t>
            </a:r>
            <a:endParaRPr lang="es-CO" dirty="0"/>
          </a:p>
        </p:txBody>
      </p:sp>
      <p:pic>
        <p:nvPicPr>
          <p:cNvPr id="5" name="Marcador de contenido 4" descr="Logotipo&#10;&#10;El contenido generado por IA puede ser incorrecto.">
            <a:extLst>
              <a:ext uri="{FF2B5EF4-FFF2-40B4-BE49-F238E27FC236}">
                <a16:creationId xmlns:a16="http://schemas.microsoft.com/office/drawing/2014/main" id="{011DE490-B4C1-A7D4-4A44-8E14A9B8B6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67" y="2469380"/>
            <a:ext cx="5715000" cy="2857500"/>
          </a:xfr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67CA5B1-CEAD-DC71-4FEE-CB207F1CD83E}"/>
              </a:ext>
            </a:extLst>
          </p:cNvPr>
          <p:cNvSpPr txBox="1"/>
          <p:nvPr/>
        </p:nvSpPr>
        <p:spPr>
          <a:xfrm>
            <a:off x="904399" y="5574268"/>
            <a:ext cx="4674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https://easycode.cat/Spanish/Download.htm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10D2612-5E22-083D-AA05-AE53C4E96B8A}"/>
              </a:ext>
            </a:extLst>
          </p:cNvPr>
          <p:cNvSpPr txBox="1"/>
          <p:nvPr/>
        </p:nvSpPr>
        <p:spPr>
          <a:xfrm>
            <a:off x="7223760" y="55133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https://www.masm32.com/</a:t>
            </a:r>
          </a:p>
        </p:txBody>
      </p:sp>
      <p:pic>
        <p:nvPicPr>
          <p:cNvPr id="13" name="Imagen 12" descr="Un dibujo de un personaje de caricatura&#10;&#10;El contenido generado por IA puede ser incorrecto.">
            <a:extLst>
              <a:ext uri="{FF2B5EF4-FFF2-40B4-BE49-F238E27FC236}">
                <a16:creationId xmlns:a16="http://schemas.microsoft.com/office/drawing/2014/main" id="{E9B107D8-B589-2608-4F5E-EDAAFA760D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214" y="2498907"/>
            <a:ext cx="2348865" cy="289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213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B84D8-70CC-961A-89CA-9A7DC0FAF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2775204"/>
            <a:ext cx="10691265" cy="1307592"/>
          </a:xfrm>
        </p:spPr>
        <p:txBody>
          <a:bodyPr/>
          <a:lstStyle/>
          <a:p>
            <a:pPr algn="ctr"/>
            <a:r>
              <a:rPr lang="es-MX" dirty="0"/>
              <a:t>Hola mundo EN ENSAMBLADOR…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399003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B3BEF0-9D49-FBAF-8F70-AB242A220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Tipos básicos de definición de datos</a:t>
            </a:r>
            <a:endParaRPr lang="es-CO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7670F146-F63A-232A-C32F-41E4C71C6C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6488521"/>
              </p:ext>
            </p:extLst>
          </p:nvPr>
        </p:nvGraphicFramePr>
        <p:xfrm>
          <a:off x="700088" y="2222500"/>
          <a:ext cx="1069181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5906">
                  <a:extLst>
                    <a:ext uri="{9D8B030D-6E8A-4147-A177-3AD203B41FA5}">
                      <a16:colId xmlns:a16="http://schemas.microsoft.com/office/drawing/2014/main" val="251174134"/>
                    </a:ext>
                  </a:extLst>
                </a:gridCol>
                <a:gridCol w="5345906">
                  <a:extLst>
                    <a:ext uri="{9D8B030D-6E8A-4147-A177-3AD203B41FA5}">
                      <a16:colId xmlns:a16="http://schemas.microsoft.com/office/drawing/2014/main" val="1350981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Tipo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099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DB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Tipo Byte (8Bits)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698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DW/Word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Palabra (16Bits)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158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DD/</a:t>
                      </a:r>
                      <a:r>
                        <a:rPr lang="es-MX" dirty="0" err="1"/>
                        <a:t>DWord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Doble Palabra (32Bits)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52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DQ/</a:t>
                      </a:r>
                      <a:r>
                        <a:rPr lang="es-MX" dirty="0" err="1"/>
                        <a:t>QWord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Cuádruple Palabra (64Bits)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103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DT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Diez bytes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730035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A6BCDF46-B0DF-7277-1A53-D6E98A333792}"/>
              </a:ext>
            </a:extLst>
          </p:cNvPr>
          <p:cNvSpPr txBox="1"/>
          <p:nvPr/>
        </p:nvSpPr>
        <p:spPr>
          <a:xfrm>
            <a:off x="1148080" y="4754880"/>
            <a:ext cx="64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MiNumero</a:t>
            </a:r>
            <a:r>
              <a:rPr lang="es-MX" dirty="0"/>
              <a:t> DW 65535</a:t>
            </a:r>
          </a:p>
          <a:p>
            <a:r>
              <a:rPr lang="es-MX" dirty="0" err="1"/>
              <a:t>MiNumero</a:t>
            </a:r>
            <a:r>
              <a:rPr lang="es-MX" dirty="0"/>
              <a:t> DW ?</a:t>
            </a:r>
          </a:p>
          <a:p>
            <a:r>
              <a:rPr lang="es-MX" dirty="0" err="1"/>
              <a:t>MiNumero</a:t>
            </a:r>
            <a:r>
              <a:rPr lang="es-MX" dirty="0"/>
              <a:t> DW 10 DUP(0)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437304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2D65B-7EE9-A879-2296-6326934DD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referencia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0E51F9-A31B-EFA0-22BF-4B6A15BE2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52600"/>
            <a:ext cx="10691265" cy="4209288"/>
          </a:xfrm>
        </p:spPr>
        <p:txBody>
          <a:bodyPr/>
          <a:lstStyle/>
          <a:p>
            <a:r>
              <a:rPr lang="es-MX" dirty="0"/>
              <a:t>Manual de Intel 8086</a:t>
            </a:r>
          </a:p>
          <a:p>
            <a:r>
              <a:rPr lang="es-MX" dirty="0"/>
              <a:t>Historia de x86: </a:t>
            </a:r>
            <a:r>
              <a:rPr lang="es-MX" dirty="0">
                <a:hlinkClick r:id="rId2"/>
              </a:rPr>
              <a:t>https://es.wikipedia.org/wiki/X86</a:t>
            </a:r>
            <a:endParaRPr lang="es-MX" dirty="0"/>
          </a:p>
          <a:p>
            <a:r>
              <a:rPr lang="es-CO" dirty="0">
                <a:hlinkClick r:id="rId3"/>
              </a:rPr>
              <a:t>https://www.diarlu.com/lenguajes-de-programacion/</a:t>
            </a:r>
            <a:endParaRPr lang="es-CO" dirty="0"/>
          </a:p>
          <a:p>
            <a:r>
              <a:rPr lang="es-CO" dirty="0">
                <a:hlinkClick r:id="rId4"/>
              </a:rPr>
              <a:t>https://programacionits.blogspot.com/2012/02/lenguaje-ensamblador.html</a:t>
            </a:r>
            <a:endParaRPr lang="es-CO" dirty="0"/>
          </a:p>
          <a:p>
            <a:r>
              <a:rPr lang="es-CO" dirty="0">
                <a:hlinkClick r:id="rId5"/>
              </a:rPr>
              <a:t>https://www.profesionalreview.com/2019/11/18/registros-del-procesador/</a:t>
            </a:r>
            <a:endParaRPr lang="es-CO" dirty="0"/>
          </a:p>
          <a:p>
            <a:endParaRPr lang="es-CO" dirty="0"/>
          </a:p>
          <a:p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8127029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fae5974-ddce-4c77-87b7-32716fe90e7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42924BDE2CCFF468008065D8ABBD45F" ma:contentTypeVersion="6" ma:contentTypeDescription="Crear nuevo documento." ma:contentTypeScope="" ma:versionID="721ad0eef718ca9a9dfd094e3bc4c3ca">
  <xsd:schema xmlns:xsd="http://www.w3.org/2001/XMLSchema" xmlns:xs="http://www.w3.org/2001/XMLSchema" xmlns:p="http://schemas.microsoft.com/office/2006/metadata/properties" xmlns:ns3="3fae5974-ddce-4c77-87b7-32716fe90e74" targetNamespace="http://schemas.microsoft.com/office/2006/metadata/properties" ma:root="true" ma:fieldsID="d28d35e752fcb23689d40b3f03643028" ns3:_="">
    <xsd:import namespace="3fae5974-ddce-4c77-87b7-32716fe90e7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ae5974-ddce-4c77-87b7-32716fe90e7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1D68536-6A45-4C32-A681-BB3D37FF90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1AD380-FFCA-4507-B471-DB5B5F304282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elements/1.1/"/>
    <ds:schemaRef ds:uri="3fae5974-ddce-4c77-87b7-32716fe90e74"/>
    <ds:schemaRef ds:uri="http://www.w3.org/XML/1998/namespace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47DA452-0444-4DA8-929D-C13195F322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ae5974-ddce-4c77-87b7-32716fe90e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3365</TotalTime>
  <Words>1327</Words>
  <Application>Microsoft Office PowerPoint</Application>
  <PresentationFormat>Panorámica</PresentationFormat>
  <Paragraphs>239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Abadi</vt:lpstr>
      <vt:lpstr>Arial</vt:lpstr>
      <vt:lpstr>Arial Nova</vt:lpstr>
      <vt:lpstr>Calisto MT</vt:lpstr>
      <vt:lpstr>Univers Condensed</vt:lpstr>
      <vt:lpstr>ChronicleVTI</vt:lpstr>
      <vt:lpstr>Programación en ensamblador</vt:lpstr>
      <vt:lpstr>Características básicas del hardware de un pc  El hardware interno principal de una pc consta del procesador, la memoria y los registros. los registros son componentes del procesador que almacenan datos y direcciones. para ejecutar un programa, el sistema lo copia del dispositivo externo a la memoria interna. el procesador ejecuta las instrucciones del programa.</vt:lpstr>
      <vt:lpstr>almacenamiento</vt:lpstr>
      <vt:lpstr>Sistemas de numeración</vt:lpstr>
      <vt:lpstr>Presentación de PowerPoint</vt:lpstr>
      <vt:lpstr>registros</vt:lpstr>
      <vt:lpstr>Presentación de PowerPoint</vt:lpstr>
      <vt:lpstr>Presentación de PowerPoint</vt:lpstr>
      <vt:lpstr>Presentación de PowerPoint</vt:lpstr>
      <vt:lpstr>Presentación de PowerPoint</vt:lpstr>
      <vt:lpstr>Registros de propósito general (gprS)</vt:lpstr>
      <vt:lpstr>Registros de segmento</vt:lpstr>
      <vt:lpstr>Registros de control (algunos)</vt:lpstr>
      <vt:lpstr>procesador</vt:lpstr>
      <vt:lpstr>Modos</vt:lpstr>
      <vt:lpstr>Modo real</vt:lpstr>
      <vt:lpstr>Modo protegido</vt:lpstr>
      <vt:lpstr>Modo largo</vt:lpstr>
      <vt:lpstr>Arquitectura X86</vt:lpstr>
      <vt:lpstr>RESUMEN DE LA HISTORIA DE LA ARQUITECTURA X86 </vt:lpstr>
      <vt:lpstr>BIG-endian (orden natural)</vt:lpstr>
      <vt:lpstr>Ejemplo</vt:lpstr>
      <vt:lpstr>Lenguaje máquina</vt:lpstr>
      <vt:lpstr>¿Qué es el lenguaje ensamblador?</vt:lpstr>
      <vt:lpstr>Ejemplo: Comparación entre arquitecturas</vt:lpstr>
      <vt:lpstr>Presentación de PowerPoint</vt:lpstr>
      <vt:lpstr>Herramientas para programar en ensamblador</vt:lpstr>
      <vt:lpstr>Hola mundo EN ENSAMBLADOR…</vt:lpstr>
      <vt:lpstr>Tipos básicos de definición de datos</vt:lpstr>
      <vt:lpstr>referencia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Carmen Calderón</dc:creator>
  <cp:lastModifiedBy>Carmen Calderón</cp:lastModifiedBy>
  <cp:revision>3</cp:revision>
  <dcterms:created xsi:type="dcterms:W3CDTF">2025-05-15T17:15:59Z</dcterms:created>
  <dcterms:modified xsi:type="dcterms:W3CDTF">2025-05-19T02:11:28Z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0x010100742924BDE2CCFF468008065D8ABBD45F</vt:lpwstr>
  </property>
</Properties>
</file>