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4" r:id="rId3"/>
    <p:sldId id="268" r:id="rId4"/>
    <p:sldId id="269" r:id="rId5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6" r:id="rId15"/>
    <p:sldId id="26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287" r:id="rId34"/>
    <p:sldId id="288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F6A6-3842-4B02-9A52-1A79BABF4589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9D598-0E64-49F8-BCED-7FA90B378BC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8567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9D598-0E64-49F8-BCED-7FA90B378BCE}" type="slidenum">
              <a:rPr lang="es-CO" smtClean="0"/>
              <a:t>34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81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3F1D2-936A-80F3-CE71-61163DBD7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BD9340-1B92-3357-3966-1E1A6983B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6693A-F24C-241C-DEA0-50AB4DF4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EB2F03-9990-226D-707F-90806BD5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D19DC-4CA4-0942-9723-95187645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306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D228C-803D-A001-063B-380C11D5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A7E3B-0245-CEA2-8973-215D429E7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27243B-75B1-301B-EAD5-542A0E09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189071-EA94-1E6E-CDAD-1567F997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F5C0F0-AB0B-1475-FD4C-4C8B3F4A3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974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5A570-315E-70B2-EB9C-D200FB2BE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D8DECB-E711-C057-EAAB-8A246D71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98D550-8865-7D29-9217-1BFFA3CE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17D2B4-8BEF-4C39-EECE-8AD9B0A7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197A6B-B738-EAB0-F194-062C2EB8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46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A90C2F-C863-8020-9F1F-141728B6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6C967B-076E-9A62-A530-0EBB4ECB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C53B14-D83A-B678-D9E3-C73D16784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471023-9E7D-4A9E-8839-E1614DDE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6D9F50-B913-D7D4-234A-419B6A87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FF0B14-7C9E-8641-59D4-1A9B9E01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386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07D3F-E764-560E-640E-64883341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680F92-D44C-70AF-98CF-28DCB500B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A1F113-45E4-D776-0A2F-77300040A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23FAD6-4A62-FCF2-9C9C-E84D22EE9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7E5537-AC92-8B0E-6853-47FDF0777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3C6023-38A0-3F2C-03BA-9AFD0449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6F6A4C-489E-60EA-5B09-F7832CB7E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41D3ED-1E54-490F-2615-94280C925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8468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6DEBF-9243-E3E0-EF31-58D504D7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5ED4D33-6D1C-8592-1587-2020AF97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8CF420-E843-DFCB-41E7-20937086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07C4B5-6E72-0D30-44B4-C0CD6A4F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966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DE2BE2-534A-5713-6C82-BE76E12E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731D4F-3D93-9687-4033-5223B3F3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ACA82E-E5C2-1110-E132-E6B3992F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04409-379C-122C-0045-7F7A0522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A0DC50-D990-DD9C-537D-A7DF8D8E3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3CDC36-AA1A-6420-C516-C72613833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0D9381-E7DA-5CD5-7828-8FB689E8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11E1A7-1165-4E22-915B-762E2433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5A3CA4-DBED-3F2D-D7BE-F60F1083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15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E878B-1B76-0A66-777A-86D056D6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6E8184-5739-4836-CAA0-17AFB6C41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56128A-57AE-E7B3-B186-3214028BC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BFC0DC-8734-37C1-AFD1-1D22A3A5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BB8A25-99DD-BF02-C037-14F33EB0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F523A3-8FD8-0182-36D9-03DD80B5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10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DBF34-D78E-5FA9-DE1A-9CCC2958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8FE2C8-6776-55B8-9E1B-3D65EBE25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5FFE0-72C6-1C5F-C69C-8140C732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F04703-64FC-80A9-0BF0-F63545B0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F15A9B-19F2-746E-4E86-B95902F7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197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A169A5-0AF3-8F78-D83B-EEA7DDBFA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B3BA63-5DB6-5729-F3CB-BCA50BAF7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71926B-4D34-BB5B-BC9D-96EFFB08D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A123A-CCB1-5876-75BA-107A452B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01A1F7-EFEB-F66C-2DFC-5E77A7F5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129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15EEBF-40F2-0851-D059-DE79A05B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AE900C-8E2D-0121-F52A-E469033F2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72E8B0-9CD9-253B-795A-C99E1699F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9414F-A54A-46E0-B97B-59729A18F36D}" type="datetimeFigureOut">
              <a:rPr lang="es-CO" smtClean="0"/>
              <a:t>31/05/2025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D64DEC-8C2D-1159-102F-50C6EEC931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C6D204-5ECD-EE92-ABC8-335D8A4A5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61B38-C5B0-431E-9076-7D640A350B7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059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uffinsecurity.com/es/partiendo-de-la-base-ataques-al-base-frame-pointer-ebp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programming/c_goto_statement.htm" TargetMode="External"/><Relationship Id="rId2" Type="http://schemas.openxmlformats.org/officeDocument/2006/relationships/hyperlink" Target="https://stackoverflow.com/questions/55623357/can-we-store-a-floating-point-in-a-regular-regist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DBFD9-F7EC-44D2-9319-F23C25B79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2384"/>
            <a:ext cx="9144000" cy="2387600"/>
          </a:xfrm>
        </p:spPr>
        <p:txBody>
          <a:bodyPr/>
          <a:lstStyle/>
          <a:p>
            <a:r>
              <a:rPr lang="es-MX" b="1" dirty="0"/>
              <a:t>Ensamblador Sesión 2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7112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DF9A7-38DE-40A1-C6BA-D72613235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793" y="599587"/>
            <a:ext cx="10515600" cy="1325563"/>
          </a:xfrm>
        </p:spPr>
        <p:txBody>
          <a:bodyPr/>
          <a:lstStyle/>
          <a:p>
            <a:r>
              <a:rPr lang="es-MX" dirty="0"/>
              <a:t>Recordemos…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6C8B65-B729-AD3C-E2E3-F7EE1DA0B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93" y="2225553"/>
            <a:ext cx="10672414" cy="358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69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8A2E5F-CB7A-3DC5-A24C-89511C344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711" y="671155"/>
            <a:ext cx="6210487" cy="833784"/>
          </a:xfrm>
        </p:spPr>
        <p:txBody>
          <a:bodyPr anchor="b">
            <a:normAutofit/>
          </a:bodyPr>
          <a:lstStyle/>
          <a:p>
            <a:r>
              <a:rPr lang="es-CO" sz="4000" b="1" dirty="0"/>
              <a:t>General-</a:t>
            </a:r>
            <a:r>
              <a:rPr lang="es-CO" sz="4000" b="1" dirty="0" err="1"/>
              <a:t>Purpose</a:t>
            </a:r>
            <a:r>
              <a:rPr lang="es-CO" sz="4000" b="1" dirty="0"/>
              <a:t> </a:t>
            </a:r>
            <a:r>
              <a:rPr lang="es-CO" sz="4000" b="1" dirty="0" err="1"/>
              <a:t>Registers</a:t>
            </a:r>
            <a:endParaRPr lang="es-CO" sz="4000" b="1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1D06BA9-B7C3-8A6B-C291-6C6160F5B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57" y="407111"/>
            <a:ext cx="2993887" cy="400652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4BC3CD-DA71-BF84-AEEC-BEBE3C512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1504939"/>
            <a:ext cx="7312795" cy="3197464"/>
          </a:xfrm>
        </p:spPr>
        <p:txBody>
          <a:bodyPr anchor="t">
            <a:noAutofit/>
          </a:bodyPr>
          <a:lstStyle/>
          <a:p>
            <a:pPr algn="just"/>
            <a:r>
              <a:rPr lang="es-MX" sz="2100" dirty="0"/>
              <a:t>La CPU x86 tiene ocho registros de propósito general: </a:t>
            </a:r>
            <a:r>
              <a:rPr lang="es-MX" sz="2100" b="1" i="1" dirty="0" err="1"/>
              <a:t>eax</a:t>
            </a:r>
            <a:r>
              <a:rPr lang="es-MX" sz="2100" b="1" i="1" dirty="0"/>
              <a:t>, </a:t>
            </a:r>
            <a:r>
              <a:rPr lang="es-MX" sz="2100" b="1" i="1" dirty="0" err="1"/>
              <a:t>ebx</a:t>
            </a:r>
            <a:r>
              <a:rPr lang="es-MX" sz="2100" b="1" i="1" dirty="0"/>
              <a:t>, </a:t>
            </a:r>
            <a:r>
              <a:rPr lang="es-MX" sz="2100" b="1" i="1" dirty="0" err="1"/>
              <a:t>ecx</a:t>
            </a:r>
            <a:r>
              <a:rPr lang="es-MX" sz="2100" b="1" i="1" dirty="0"/>
              <a:t>, </a:t>
            </a:r>
            <a:r>
              <a:rPr lang="es-MX" sz="2100" b="1" i="1" dirty="0" err="1"/>
              <a:t>edx</a:t>
            </a:r>
            <a:r>
              <a:rPr lang="es-MX" sz="2100" b="1" i="1" dirty="0"/>
              <a:t>, </a:t>
            </a:r>
            <a:r>
              <a:rPr lang="es-MX" sz="2100" b="1" i="1" dirty="0" err="1"/>
              <a:t>esp</a:t>
            </a:r>
            <a:r>
              <a:rPr lang="es-MX" sz="2100" b="1" i="1" dirty="0"/>
              <a:t>, </a:t>
            </a:r>
            <a:r>
              <a:rPr lang="es-MX" sz="2100" b="1" i="1" dirty="0" err="1"/>
              <a:t>ebp</a:t>
            </a:r>
            <a:r>
              <a:rPr lang="es-MX" sz="2100" b="1" i="1" dirty="0"/>
              <a:t>, </a:t>
            </a:r>
            <a:r>
              <a:rPr lang="es-MX" sz="2100" b="1" i="1" dirty="0" err="1"/>
              <a:t>esi</a:t>
            </a:r>
            <a:r>
              <a:rPr lang="es-MX" sz="2100" b="1" i="1" dirty="0"/>
              <a:t>, </a:t>
            </a:r>
            <a:r>
              <a:rPr lang="es-MX" sz="2100" b="1" dirty="0"/>
              <a:t> y </a:t>
            </a:r>
            <a:r>
              <a:rPr lang="es-MX" sz="2100" b="1" i="1" dirty="0" err="1"/>
              <a:t>edi</a:t>
            </a:r>
            <a:endParaRPr lang="es-MX" sz="2100" b="1" i="1" dirty="0"/>
          </a:p>
          <a:p>
            <a:pPr algn="just"/>
            <a:r>
              <a:rPr lang="es-MX" sz="2100" dirty="0"/>
              <a:t>Estos registros tienen un tamaño de 32 bits (4 bytes)</a:t>
            </a:r>
          </a:p>
          <a:p>
            <a:pPr algn="just"/>
            <a:r>
              <a:rPr lang="es-MX" sz="2100" dirty="0"/>
              <a:t>Los 16 bits inferiores (2 bytes) de cada uno de estos registros puede accederse como </a:t>
            </a:r>
            <a:r>
              <a:rPr lang="es-MX" sz="2100" b="1" i="1" dirty="0" err="1"/>
              <a:t>ax</a:t>
            </a:r>
            <a:r>
              <a:rPr lang="es-MX" sz="2100" b="1" i="1" dirty="0"/>
              <a:t>, </a:t>
            </a:r>
            <a:r>
              <a:rPr lang="es-MX" sz="2100" b="1" i="1" dirty="0" err="1"/>
              <a:t>bx</a:t>
            </a:r>
            <a:r>
              <a:rPr lang="es-MX" sz="2100" b="1" i="1" dirty="0"/>
              <a:t>, </a:t>
            </a:r>
            <a:r>
              <a:rPr lang="es-MX" sz="2100" b="1" i="1" dirty="0" err="1"/>
              <a:t>cx</a:t>
            </a:r>
            <a:r>
              <a:rPr lang="es-MX" sz="2100" b="1" i="1" dirty="0"/>
              <a:t>, </a:t>
            </a:r>
            <a:r>
              <a:rPr lang="es-MX" sz="2100" b="1" i="1" dirty="0" err="1"/>
              <a:t>dx</a:t>
            </a:r>
            <a:r>
              <a:rPr lang="es-MX" sz="2100" b="1" i="1" dirty="0"/>
              <a:t>, </a:t>
            </a:r>
            <a:r>
              <a:rPr lang="es-MX" sz="2100" b="1" i="1" dirty="0" err="1"/>
              <a:t>sp</a:t>
            </a:r>
            <a:r>
              <a:rPr lang="es-MX" sz="2100" b="1" i="1" dirty="0"/>
              <a:t>, </a:t>
            </a:r>
            <a:r>
              <a:rPr lang="es-MX" sz="2100" b="1" i="1" dirty="0" err="1"/>
              <a:t>bp</a:t>
            </a:r>
            <a:r>
              <a:rPr lang="es-MX" sz="2100" b="1" i="1" dirty="0"/>
              <a:t>, si </a:t>
            </a:r>
            <a:r>
              <a:rPr lang="es-MX" sz="2100" b="1" dirty="0"/>
              <a:t>y </a:t>
            </a:r>
            <a:r>
              <a:rPr lang="es-MX" sz="2100" b="1" i="1" dirty="0"/>
              <a:t>di.</a:t>
            </a:r>
            <a:r>
              <a:rPr lang="es-MX" sz="2100" i="1" dirty="0"/>
              <a:t> </a:t>
            </a:r>
            <a:r>
              <a:rPr lang="es-MX" sz="2100" dirty="0"/>
              <a:t>Los 8 bits inferiores (1 byte) de </a:t>
            </a:r>
            <a:r>
              <a:rPr lang="es-MX" sz="2100" b="1" i="1" dirty="0" err="1"/>
              <a:t>eax,ebx</a:t>
            </a:r>
            <a:r>
              <a:rPr lang="es-MX" sz="2100" b="1" i="1" dirty="0"/>
              <a:t>, </a:t>
            </a:r>
            <a:r>
              <a:rPr lang="es-MX" sz="2100" b="1" i="1" dirty="0" err="1"/>
              <a:t>ecx</a:t>
            </a:r>
            <a:r>
              <a:rPr lang="es-MX" sz="2100" b="1" i="1" dirty="0"/>
              <a:t> </a:t>
            </a:r>
            <a:r>
              <a:rPr lang="es-MX" sz="2100" b="1" dirty="0"/>
              <a:t>y </a:t>
            </a:r>
            <a:r>
              <a:rPr lang="es-MX" sz="2100" b="1" i="1" dirty="0" err="1"/>
              <a:t>edx</a:t>
            </a:r>
            <a:r>
              <a:rPr lang="es-MX" sz="2100" b="1" i="1" dirty="0"/>
              <a:t> </a:t>
            </a:r>
            <a:r>
              <a:rPr lang="es-MX" sz="2100" dirty="0"/>
              <a:t>pueden ser referenciados como </a:t>
            </a:r>
            <a:r>
              <a:rPr lang="es-MX" sz="2100" b="1" i="1" dirty="0"/>
              <a:t>al, </a:t>
            </a:r>
            <a:r>
              <a:rPr lang="es-MX" sz="2100" b="1" i="1" dirty="0" err="1"/>
              <a:t>bl</a:t>
            </a:r>
            <a:r>
              <a:rPr lang="es-MX" sz="2100" b="1" i="1" dirty="0"/>
              <a:t>, </a:t>
            </a:r>
            <a:r>
              <a:rPr lang="es-MX" sz="2100" b="1" i="1" dirty="0" err="1"/>
              <a:t>cl</a:t>
            </a:r>
            <a:r>
              <a:rPr lang="es-MX" sz="2100" b="1" i="1" dirty="0"/>
              <a:t>, </a:t>
            </a:r>
            <a:r>
              <a:rPr lang="es-MX" sz="2100" b="1" dirty="0"/>
              <a:t>y </a:t>
            </a:r>
            <a:r>
              <a:rPr lang="es-MX" sz="2100" b="1" i="1" dirty="0"/>
              <a:t>dl. </a:t>
            </a:r>
            <a:r>
              <a:rPr lang="es-CO" sz="2100" dirty="0"/>
              <a:t>Por su parte, los 8 bits superiores de cada uno de los 16 bits inferiores de estos registros, pueden ser accedidos como </a:t>
            </a:r>
            <a:r>
              <a:rPr lang="es-CO" sz="2100" b="1" i="1" dirty="0"/>
              <a:t>ah, </a:t>
            </a:r>
            <a:r>
              <a:rPr lang="es-CO" sz="2100" b="1" i="1" dirty="0" err="1"/>
              <a:t>bh</a:t>
            </a:r>
            <a:r>
              <a:rPr lang="es-CO" sz="2100" b="1" i="1" dirty="0"/>
              <a:t>, ch, </a:t>
            </a:r>
            <a:r>
              <a:rPr lang="es-CO" sz="2100" b="1" dirty="0"/>
              <a:t>y</a:t>
            </a:r>
            <a:r>
              <a:rPr lang="es-CO" sz="2100" dirty="0"/>
              <a:t> </a:t>
            </a:r>
            <a:r>
              <a:rPr lang="es-CO" sz="2100" b="1" i="1" dirty="0" err="1"/>
              <a:t>dh</a:t>
            </a:r>
            <a:r>
              <a:rPr lang="es-CO" sz="2100" b="1" i="1" dirty="0"/>
              <a:t>.</a:t>
            </a:r>
          </a:p>
          <a:p>
            <a:pPr algn="just"/>
            <a:r>
              <a:rPr lang="es-MX" sz="2100" b="1" dirty="0"/>
              <a:t>EAX, EBX, ECX, EDX: </a:t>
            </a:r>
            <a:r>
              <a:rPr lang="es-MX" sz="2100" dirty="0"/>
              <a:t>Los principales (32 bits cada uno) </a:t>
            </a:r>
            <a:r>
              <a:rPr lang="es-MX" sz="2100" b="1" dirty="0"/>
              <a:t>ESI, EDI: </a:t>
            </a:r>
            <a:r>
              <a:rPr lang="es-MX" sz="2100" dirty="0"/>
              <a:t>Índices fuente y destino</a:t>
            </a:r>
            <a:br>
              <a:rPr lang="es-MX" sz="2100" dirty="0"/>
            </a:br>
            <a:r>
              <a:rPr lang="es-MX" sz="2100" b="1" dirty="0"/>
              <a:t>ESP: </a:t>
            </a:r>
            <a:r>
              <a:rPr lang="es-MX" sz="2100" dirty="0"/>
              <a:t>Puntero de pila (</a:t>
            </a:r>
            <a:r>
              <a:rPr lang="es-MX" sz="2100" dirty="0" err="1"/>
              <a:t>stack</a:t>
            </a:r>
            <a:r>
              <a:rPr lang="es-MX" sz="2100" dirty="0"/>
              <a:t> pointer) </a:t>
            </a:r>
            <a:r>
              <a:rPr lang="es-MX" sz="2100" b="1" dirty="0"/>
              <a:t>EBP: </a:t>
            </a:r>
            <a:r>
              <a:rPr lang="es-MX" sz="2100" dirty="0"/>
              <a:t>Puntero base de marco (base pointer)</a:t>
            </a:r>
            <a:endParaRPr lang="es-CO" sz="2100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BA9E34D-80F0-DF6E-A54C-D3C18C484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47" y="4598963"/>
            <a:ext cx="3959609" cy="143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7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422F8-F704-4917-3C5D-2F7F7ABB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Instruction</a:t>
            </a:r>
            <a:r>
              <a:rPr lang="es-CO" b="1" dirty="0"/>
              <a:t> Pointer (EIP)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42E306-996B-5C79-6001-C19B3FF7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La CPU tiene un registro especial llamado el </a:t>
            </a:r>
            <a:r>
              <a:rPr lang="es-MX" i="1" dirty="0" err="1"/>
              <a:t>eip</a:t>
            </a:r>
            <a:r>
              <a:rPr lang="es-MX" i="1" dirty="0"/>
              <a:t>, </a:t>
            </a:r>
            <a:r>
              <a:rPr lang="es-MX" dirty="0"/>
              <a:t>el cual contiene la dirección de la siguiente instrucción a ejecutar. Cuando la instrucción es ejecutada, el </a:t>
            </a:r>
            <a:r>
              <a:rPr lang="es-MX" i="1" dirty="0" err="1"/>
              <a:t>eip</a:t>
            </a:r>
            <a:r>
              <a:rPr lang="es-MX" i="1" dirty="0"/>
              <a:t> </a:t>
            </a:r>
            <a:r>
              <a:rPr lang="es-MX" dirty="0"/>
              <a:t>apuntará a la siguiente instrucción en la memoria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5050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F738A-7376-69E0-BFB6-89D0F3C5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EFLAGS </a:t>
            </a:r>
            <a:r>
              <a:rPr lang="es-CO" b="1" dirty="0" err="1"/>
              <a:t>Register</a:t>
            </a:r>
            <a:endParaRPr lang="es-CO" b="1" dirty="0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77B744C3-65FE-809F-6765-43D607E6D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358" y="1351672"/>
            <a:ext cx="6404768" cy="5256544"/>
          </a:xfrm>
        </p:spPr>
      </p:pic>
    </p:spTree>
    <p:extLst>
      <p:ext uri="{BB962C8B-B14F-4D97-AF65-F5344CB8AC3E}">
        <p14:creationId xmlns:p14="http://schemas.microsoft.com/office/powerpoint/2010/main" val="366534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873BA-F8DC-67D2-FA6B-BA13ED61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Movimiento de valores a registros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C92B98-18C8-95F9-F1A7-C741E2A1D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Una de las instrucciones básicas de ensamblador es la de </a:t>
            </a:r>
            <a:r>
              <a:rPr lang="es-MX" i="1" dirty="0" err="1"/>
              <a:t>mov</a:t>
            </a:r>
            <a:r>
              <a:rPr lang="es-MX" i="1" dirty="0"/>
              <a:t>, </a:t>
            </a:r>
            <a:r>
              <a:rPr lang="es-MX" dirty="0"/>
              <a:t>la cual permite mover datos de una localización a otra.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Su sintaxis es </a:t>
            </a:r>
          </a:p>
          <a:p>
            <a:pPr marL="0" indent="0" algn="just">
              <a:buNone/>
            </a:pPr>
            <a:r>
              <a:rPr lang="es-MX" dirty="0"/>
              <a:t>				</a:t>
            </a:r>
            <a:r>
              <a:rPr lang="es-MX" dirty="0" err="1"/>
              <a:t>mov</a:t>
            </a:r>
            <a:r>
              <a:rPr lang="es-MX" dirty="0"/>
              <a:t> </a:t>
            </a:r>
            <a:r>
              <a:rPr lang="es-MX" dirty="0" err="1"/>
              <a:t>dst</a:t>
            </a:r>
            <a:r>
              <a:rPr lang="es-MX" dirty="0"/>
              <a:t>,  </a:t>
            </a:r>
            <a:r>
              <a:rPr lang="es-MX" dirty="0" err="1"/>
              <a:t>src</a:t>
            </a:r>
            <a:endParaRPr lang="es-MX" dirty="0"/>
          </a:p>
          <a:p>
            <a:pPr marL="0" indent="0" algn="just">
              <a:buNone/>
            </a:pPr>
            <a:r>
              <a:rPr lang="es-MX" b="1" dirty="0"/>
              <a:t>Ejemplos: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D91DC5-833E-422D-4214-038B11D46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5100637"/>
            <a:ext cx="59055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9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33A29C72-6761-B1A8-5772-DD28CF637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880" y="429548"/>
            <a:ext cx="9180471" cy="280004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7B55D24-FE15-C960-1C74-605F3C49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80" y="3229591"/>
            <a:ext cx="9180471" cy="27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0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A8BD9B-E005-B60C-4D12-D4FB4C50C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93" y="1050332"/>
            <a:ext cx="11106565" cy="131772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6F13A3-34E9-30CE-0235-B41BFCAD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39" y="3570500"/>
            <a:ext cx="11134238" cy="86082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6E974D4-FE27-D56A-9F89-2B770DB8DBF4}"/>
              </a:ext>
            </a:extLst>
          </p:cNvPr>
          <p:cNvSpPr txBox="1"/>
          <p:nvPr/>
        </p:nvSpPr>
        <p:spPr>
          <a:xfrm>
            <a:off x="5322276" y="2307083"/>
            <a:ext cx="234461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500" dirty="0"/>
              <a:t>vs</a:t>
            </a:r>
            <a:endParaRPr lang="es-CO" sz="6500" dirty="0"/>
          </a:p>
        </p:txBody>
      </p:sp>
    </p:spTree>
    <p:extLst>
      <p:ext uri="{BB962C8B-B14F-4D97-AF65-F5344CB8AC3E}">
        <p14:creationId xmlns:p14="http://schemas.microsoft.com/office/powerpoint/2010/main" val="298461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A2AFC-69B4-ED47-7FBA-843F28D8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55" y="365125"/>
            <a:ext cx="10515600" cy="1325563"/>
          </a:xfrm>
        </p:spPr>
        <p:txBody>
          <a:bodyPr/>
          <a:lstStyle/>
          <a:p>
            <a:r>
              <a:rPr lang="es-MX" b="1" dirty="0"/>
              <a:t>Comentarios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D28993-FF3D-3C71-4293-1C38D264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71" y="1534288"/>
            <a:ext cx="8670312" cy="82574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2CB549E-C547-3851-6E35-52406DA8A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55" y="2479856"/>
            <a:ext cx="10664673" cy="128898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3FFCC2-7A9E-9DCA-7E26-F7499D0DE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55" y="4053011"/>
            <a:ext cx="10664673" cy="176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5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D41FB93-A800-8E84-1EEA-84F1C3635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80" y="1282945"/>
            <a:ext cx="10770039" cy="368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56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38210916-5090-F716-5232-563C6FE98883}"/>
              </a:ext>
            </a:extLst>
          </p:cNvPr>
          <p:cNvSpPr txBox="1">
            <a:spLocks/>
          </p:cNvSpPr>
          <p:nvPr/>
        </p:nvSpPr>
        <p:spPr>
          <a:xfrm>
            <a:off x="838200" y="654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13" name="Marcador de contenido 4">
            <a:extLst>
              <a:ext uri="{FF2B5EF4-FFF2-40B4-BE49-F238E27FC236}">
                <a16:creationId xmlns:a16="http://schemas.microsoft.com/office/drawing/2014/main" id="{23E0A572-3FF4-2B7C-5C2F-C38754C3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96" y="1692230"/>
            <a:ext cx="10017832" cy="244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6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8210916-5090-F716-5232-563C6FE98883}"/>
              </a:ext>
            </a:extLst>
          </p:cNvPr>
          <p:cNvSpPr txBox="1">
            <a:spLocks/>
          </p:cNvSpPr>
          <p:nvPr/>
        </p:nvSpPr>
        <p:spPr>
          <a:xfrm>
            <a:off x="838200" y="654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E0A572-3FF4-2B7C-5C2F-C38754C33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196" y="1692230"/>
            <a:ext cx="10017832" cy="24410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99DC9E4-8D28-DBE4-8692-28C36731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61959"/>
            <a:ext cx="10791825" cy="21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67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9D93A-3F3C-A652-1579-17BA0234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A6C5EA-CD6F-FF6E-84B1-D7DAD264C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50786" cy="1574264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7B9720B-42EC-0FD1-0592-2C1B941BCF3D}"/>
              </a:ext>
            </a:extLst>
          </p:cNvPr>
          <p:cNvCxnSpPr>
            <a:cxnSpLocks/>
          </p:cNvCxnSpPr>
          <p:nvPr/>
        </p:nvCxnSpPr>
        <p:spPr>
          <a:xfrm>
            <a:off x="2058500" y="3429000"/>
            <a:ext cx="0" cy="5802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7EF3DA13-BA31-58C9-6505-6CA8750A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73340"/>
            <a:ext cx="2440600" cy="1715016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02E9470-D3F8-FD1F-4B6B-4A5F67462BB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278800" y="5030848"/>
            <a:ext cx="84772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2E5FD444-1C7D-75B7-C4B9-6FEBF803A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523" y="4326116"/>
            <a:ext cx="2455272" cy="1495484"/>
          </a:xfrm>
          <a:prstGeom prst="rect">
            <a:avLst/>
          </a:prstGeom>
        </p:spPr>
      </p:pic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8169B96-94BE-8EC3-1C63-A52B2A7F203C}"/>
              </a:ext>
            </a:extLst>
          </p:cNvPr>
          <p:cNvCxnSpPr>
            <a:cxnSpLocks/>
          </p:cNvCxnSpPr>
          <p:nvPr/>
        </p:nvCxnSpPr>
        <p:spPr>
          <a:xfrm>
            <a:off x="6578882" y="5030848"/>
            <a:ext cx="85063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Imagen 25">
            <a:extLst>
              <a:ext uri="{FF2B5EF4-FFF2-40B4-BE49-F238E27FC236}">
                <a16:creationId xmlns:a16="http://schemas.microsoft.com/office/drawing/2014/main" id="{A06A9A40-ADA5-304B-D117-9E5BB5AB0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18" y="4614994"/>
            <a:ext cx="1604636" cy="109906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66A26E8-6286-A50F-FB87-7C142C748C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1877" y="3811632"/>
            <a:ext cx="1743075" cy="2114550"/>
          </a:xfrm>
          <a:prstGeom prst="rect">
            <a:avLst/>
          </a:prstGeom>
        </p:spPr>
      </p:pic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A10DD4B-AF4D-A88B-FCA8-D71BE91FC243}"/>
              </a:ext>
            </a:extLst>
          </p:cNvPr>
          <p:cNvCxnSpPr>
            <a:cxnSpLocks/>
          </p:cNvCxnSpPr>
          <p:nvPr/>
        </p:nvCxnSpPr>
        <p:spPr>
          <a:xfrm>
            <a:off x="9031241" y="5073858"/>
            <a:ext cx="85063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B9F0A6C-8C41-15C6-BDD1-1F9485AA3CE9}"/>
              </a:ext>
            </a:extLst>
          </p:cNvPr>
          <p:cNvSpPr txBox="1"/>
          <p:nvPr/>
        </p:nvSpPr>
        <p:spPr>
          <a:xfrm>
            <a:off x="1023902" y="5972803"/>
            <a:ext cx="11109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It is not always possible to get the exact C program back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2988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BF8BF-185E-FBA8-5A6F-0AEECFB0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Consejo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17638-907C-B7C8-2177-87AC973A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Cuando se está trabajando con programas más grandes, es una buena idea “romperlo” en bloques de código más pequeños y traducir cada bloque a un lenguaje de alto nivel con el que esté familiarizado.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12971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E60A4-9808-F489-E550-3AFA132E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59" y="883285"/>
            <a:ext cx="10515600" cy="1325563"/>
          </a:xfrm>
        </p:spPr>
        <p:txBody>
          <a:bodyPr/>
          <a:lstStyle/>
          <a:p>
            <a:r>
              <a:rPr lang="es-MX" b="1" dirty="0"/>
              <a:t>Operaciones aritméticas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456F0AF-08E1-8478-CF1D-8C8A2E7267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432367"/>
            <a:ext cx="10236119" cy="1200453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0531E3-E149-2BEE-2FF1-04091B7C5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816264"/>
            <a:ext cx="4615872" cy="70299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DCE3E1-57B1-C8DC-36EC-A76DE1128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702700"/>
            <a:ext cx="10515600" cy="62984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C6A428C-50BD-379E-5FA2-66DBA1392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59" y="5505815"/>
            <a:ext cx="7736841" cy="4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32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4703F-7E12-04E4-7487-E87B36C8E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65"/>
            <a:ext cx="10515600" cy="1057275"/>
          </a:xfrm>
        </p:spPr>
        <p:txBody>
          <a:bodyPr/>
          <a:lstStyle/>
          <a:p>
            <a:pPr algn="ctr"/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C9E0AA-E65D-177F-AA2E-767587B573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4021" y="1889760"/>
            <a:ext cx="6263958" cy="4015917"/>
          </a:xfrm>
        </p:spPr>
      </p:pic>
    </p:spTree>
    <p:extLst>
      <p:ext uri="{BB962C8B-B14F-4D97-AF65-F5344CB8AC3E}">
        <p14:creationId xmlns:p14="http://schemas.microsoft.com/office/powerpoint/2010/main" val="388746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74A56D7-9B6A-52E4-056F-ADB37B527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8965"/>
            <a:ext cx="10515600" cy="1057275"/>
          </a:xfrm>
        </p:spPr>
        <p:txBody>
          <a:bodyPr/>
          <a:lstStyle/>
          <a:p>
            <a:pPr algn="ctr"/>
            <a:r>
              <a:rPr lang="es-MX" b="1"/>
              <a:t>Reto de desensamblado</a:t>
            </a:r>
            <a:endParaRPr lang="es-CO" b="1" dirty="0"/>
          </a:p>
        </p:txBody>
      </p:sp>
      <p:pic>
        <p:nvPicPr>
          <p:cNvPr id="7" name="Marcador de contenido 4">
            <a:extLst>
              <a:ext uri="{FF2B5EF4-FFF2-40B4-BE49-F238E27FC236}">
                <a16:creationId xmlns:a16="http://schemas.microsoft.com/office/drawing/2014/main" id="{01DC3D8A-C0E7-D200-65D2-64C5998BE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81" y="2235201"/>
            <a:ext cx="5419808" cy="3474720"/>
          </a:xfr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AF037B5-2B0A-B4DF-0EBF-F28607D63259}"/>
              </a:ext>
            </a:extLst>
          </p:cNvPr>
          <p:cNvCxnSpPr/>
          <p:nvPr/>
        </p:nvCxnSpPr>
        <p:spPr>
          <a:xfrm>
            <a:off x="5262880" y="3820160"/>
            <a:ext cx="1422400" cy="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110016A9-BD6E-8E24-9FA4-73E7E531C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442" y="2235201"/>
            <a:ext cx="4511358" cy="326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44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C0750-2E53-D5AA-E3AD-C3FA34B1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587BE0F-75F7-5210-F1F8-192B14FE2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680" y="2523807"/>
            <a:ext cx="4626201" cy="3348673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3121769-672C-9CD5-7505-A4506EA8D2C5}"/>
              </a:ext>
            </a:extLst>
          </p:cNvPr>
          <p:cNvCxnSpPr/>
          <p:nvPr/>
        </p:nvCxnSpPr>
        <p:spPr>
          <a:xfrm>
            <a:off x="5080000" y="4198143"/>
            <a:ext cx="128016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D9F4B384-42A4-9E91-963E-00029D40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280" y="2649060"/>
            <a:ext cx="4462511" cy="290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23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69873-656E-1131-6999-F4FAC1461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898" y="365125"/>
            <a:ext cx="9990202" cy="1325563"/>
          </a:xfrm>
        </p:spPr>
        <p:txBody>
          <a:bodyPr/>
          <a:lstStyle/>
          <a:p>
            <a:r>
              <a:rPr lang="es-MX" b="1" dirty="0"/>
              <a:t>Operaciones bit a bit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E701FC2-D205-011A-E620-B69352F10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898" y="1690688"/>
            <a:ext cx="9990203" cy="216860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1A3C12-BFB1-B0B2-1803-3E5E5C2A1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40" y="4601784"/>
            <a:ext cx="2453808" cy="87820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24E8E70-F6AF-FA16-9405-0B9F2FC78037}"/>
              </a:ext>
            </a:extLst>
          </p:cNvPr>
          <p:cNvSpPr txBox="1"/>
          <p:nvPr/>
        </p:nvSpPr>
        <p:spPr>
          <a:xfrm>
            <a:off x="1100898" y="4017009"/>
            <a:ext cx="9607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[</a:t>
            </a:r>
            <a:r>
              <a:rPr lang="es-MX" sz="3200" dirty="0" err="1"/>
              <a:t>eax</a:t>
            </a:r>
            <a:r>
              <a:rPr lang="es-MX" sz="3200" dirty="0"/>
              <a:t>] = FF </a:t>
            </a:r>
            <a:r>
              <a:rPr lang="es-MX" sz="3200" dirty="0" err="1"/>
              <a:t>FF</a:t>
            </a:r>
            <a:r>
              <a:rPr lang="es-MX" sz="3200" dirty="0"/>
              <a:t> 00 00</a:t>
            </a:r>
            <a:endParaRPr lang="es-CO" sz="3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5EEAD73-8FC9-CB03-3448-15FEA4ABF970}"/>
              </a:ext>
            </a:extLst>
          </p:cNvPr>
          <p:cNvSpPr txBox="1"/>
          <p:nvPr/>
        </p:nvSpPr>
        <p:spPr>
          <a:xfrm>
            <a:off x="1100898" y="5333419"/>
            <a:ext cx="9607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-&gt; [</a:t>
            </a:r>
            <a:r>
              <a:rPr lang="es-MX" sz="3200" dirty="0" err="1"/>
              <a:t>eax</a:t>
            </a:r>
            <a:r>
              <a:rPr lang="es-MX" sz="3200" dirty="0"/>
              <a:t>] = 00 00 FF </a:t>
            </a:r>
            <a:r>
              <a:rPr lang="es-MX" sz="3200" dirty="0" err="1"/>
              <a:t>FF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2093404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1F470-0735-BD52-1F25-415D56BAF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Operaciones bit a bit</a:t>
            </a: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4409CEC-0BD1-531B-BDF2-36C7D3F4A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120" y="1690689"/>
            <a:ext cx="6964680" cy="698464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C1CBC82-6218-48E9-CC68-6C288399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736" y="2368969"/>
            <a:ext cx="5725160" cy="14524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9FA93A-4413-29F5-9560-8C52DCF6D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90" y="4218781"/>
            <a:ext cx="10844399" cy="94853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5AF010A-95B3-2DFF-538A-61F09206E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87" y="4876482"/>
            <a:ext cx="2190527" cy="65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22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B5749-D35D-3EB8-0F6D-08999226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Branching</a:t>
            </a:r>
            <a:r>
              <a:rPr lang="es-MX" b="1" dirty="0"/>
              <a:t> and </a:t>
            </a:r>
            <a:r>
              <a:rPr lang="es-MX" b="1" dirty="0" err="1"/>
              <a:t>conditionals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23029E-7628-2314-6A5F-57611B5B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instrucciones de ramificación transfieren el control de la ejecución a diferentes direcciones de memoria</a:t>
            </a:r>
          </a:p>
          <a:p>
            <a:r>
              <a:rPr lang="es-MX" dirty="0"/>
              <a:t>Tenemos saltos no condicionales:</a:t>
            </a:r>
          </a:p>
          <a:p>
            <a:r>
              <a:rPr lang="es-MX" dirty="0"/>
              <a:t>… y saltos condicionales:</a:t>
            </a:r>
          </a:p>
          <a:p>
            <a:endParaRPr lang="es-MX" dirty="0"/>
          </a:p>
          <a:p>
            <a:pPr marL="457200" lvl="1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85322B-D2B7-0D7E-CD9C-9403CF6E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14" y="2571621"/>
            <a:ext cx="3684905" cy="85737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B959A2-B7F0-2001-3A32-72A5FEBB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10348002" cy="6142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A8FED41-C532-A7DF-1878-52A50E698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56552"/>
            <a:ext cx="10348002" cy="74592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F041D5A-F10F-50C0-37C9-D85F0E4FC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415" y="3156195"/>
            <a:ext cx="2657798" cy="60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40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440BC-73AB-9616-6D93-F72DCCF3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Branching</a:t>
            </a:r>
            <a:r>
              <a:rPr lang="es-MX" b="1" dirty="0"/>
              <a:t> and </a:t>
            </a:r>
            <a:r>
              <a:rPr lang="es-MX" b="1" dirty="0" err="1"/>
              <a:t>conditionals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F1B914-A840-645E-64A8-B0DD3EF4CF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22437"/>
            <a:ext cx="2860040" cy="650009"/>
          </a:xfr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E652AD7-4F8D-E56A-835C-C5E68A71B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04194"/>
            <a:ext cx="10709655" cy="356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45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D1CCB-E21E-8978-C74E-FDA4D10D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EJEMPLO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EE0C3A-FBA6-8AC5-FC4C-83E0C827C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x = 1;</a:t>
            </a:r>
          </a:p>
          <a:p>
            <a:pPr marL="0" indent="0">
              <a:buNone/>
            </a:pPr>
            <a:r>
              <a:rPr lang="es-MX" dirty="0" err="1"/>
              <a:t>if</a:t>
            </a:r>
            <a:r>
              <a:rPr lang="es-MX" dirty="0"/>
              <a:t> (x == 0) {</a:t>
            </a:r>
          </a:p>
          <a:p>
            <a:pPr marL="0" indent="0">
              <a:buNone/>
            </a:pPr>
            <a:r>
              <a:rPr lang="es-MX" dirty="0"/>
              <a:t>	x=5;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  <a:p>
            <a:pPr marL="0" indent="0">
              <a:buNone/>
            </a:pPr>
            <a:r>
              <a:rPr lang="es-MX" dirty="0"/>
              <a:t>x=2;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C8BC52-24D4-47A5-2C93-DEBA30354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06" y="2290762"/>
            <a:ext cx="61150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50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31D1C-AB29-AEA9-BFA7-B62C6CD5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If-Else</a:t>
            </a:r>
            <a:r>
              <a:rPr lang="es-MX" b="1" dirty="0"/>
              <a:t> </a:t>
            </a:r>
            <a:r>
              <a:rPr lang="es-MX" b="1" dirty="0" err="1"/>
              <a:t>Statement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8AB8D3-11B9-9DD4-B11C-D87B32FC8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x = 0;</a:t>
            </a:r>
          </a:p>
          <a:p>
            <a:pPr marL="0" indent="0">
              <a:buNone/>
            </a:pPr>
            <a:r>
              <a:rPr lang="es-MX" dirty="0" err="1"/>
              <a:t>if</a:t>
            </a:r>
            <a:r>
              <a:rPr lang="es-MX" dirty="0"/>
              <a:t> (x == 0) {</a:t>
            </a:r>
          </a:p>
          <a:p>
            <a:pPr marL="0" indent="0">
              <a:buNone/>
            </a:pPr>
            <a:r>
              <a:rPr lang="es-MX" dirty="0"/>
              <a:t>	x=5;</a:t>
            </a:r>
          </a:p>
          <a:p>
            <a:pPr marL="0" indent="0">
              <a:buNone/>
            </a:pPr>
            <a:r>
              <a:rPr lang="es-MX" dirty="0"/>
              <a:t>} </a:t>
            </a:r>
            <a:r>
              <a:rPr lang="es-MX" dirty="0" err="1"/>
              <a:t>else</a:t>
            </a:r>
            <a:r>
              <a:rPr lang="es-MX" dirty="0"/>
              <a:t> {</a:t>
            </a:r>
          </a:p>
          <a:p>
            <a:pPr marL="0" indent="0">
              <a:buNone/>
            </a:pPr>
            <a:r>
              <a:rPr lang="es-MX" dirty="0"/>
              <a:t>	x = 1;</a:t>
            </a:r>
          </a:p>
          <a:p>
            <a:pPr marL="0" indent="0">
              <a:buNone/>
            </a:pPr>
            <a:r>
              <a:rPr lang="es-MX" dirty="0"/>
              <a:t>}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CE4799-155A-D770-38F1-CCDACD55D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62" y="1690688"/>
            <a:ext cx="4602580" cy="385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57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A2883-9B72-8597-A14D-4AD50379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If-Elseif-Else</a:t>
            </a:r>
            <a:r>
              <a:rPr lang="es-MX" b="1" dirty="0"/>
              <a:t> </a:t>
            </a:r>
            <a:r>
              <a:rPr lang="es-MX" b="1" dirty="0" err="1"/>
              <a:t>Statement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A9EB6-0FE5-95AD-8C1B-B3F0C3550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x=0;</a:t>
            </a:r>
          </a:p>
          <a:p>
            <a:pPr marL="0" indent="0">
              <a:buNone/>
            </a:pPr>
            <a:r>
              <a:rPr lang="es-MX" dirty="0" err="1"/>
              <a:t>if</a:t>
            </a:r>
            <a:r>
              <a:rPr lang="es-MX" dirty="0"/>
              <a:t>( x == 0) {</a:t>
            </a:r>
          </a:p>
          <a:p>
            <a:pPr marL="0" indent="0">
              <a:buNone/>
            </a:pPr>
            <a:r>
              <a:rPr lang="es-MX" dirty="0"/>
              <a:t>	x = 5;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  <a:p>
            <a:pPr marL="0" indent="0">
              <a:buNone/>
            </a:pPr>
            <a:r>
              <a:rPr lang="es-MX" dirty="0" err="1"/>
              <a:t>else</a:t>
            </a:r>
            <a:r>
              <a:rPr lang="es-MX" dirty="0"/>
              <a:t> </a:t>
            </a:r>
            <a:r>
              <a:rPr lang="es-MX" dirty="0" err="1"/>
              <a:t>if</a:t>
            </a:r>
            <a:r>
              <a:rPr lang="es-MX" dirty="0"/>
              <a:t> (x == 1) {</a:t>
            </a:r>
          </a:p>
          <a:p>
            <a:pPr marL="0" indent="0">
              <a:buNone/>
            </a:pPr>
            <a:r>
              <a:rPr lang="es-MX" dirty="0"/>
              <a:t>	</a:t>
            </a:r>
          </a:p>
          <a:p>
            <a:pPr marL="0" indent="0">
              <a:buNone/>
            </a:pPr>
            <a:r>
              <a:rPr lang="es-MX" dirty="0"/>
              <a:t>	x = 6;</a:t>
            </a:r>
          </a:p>
          <a:p>
            <a:pPr marL="0" indent="0">
              <a:buNone/>
            </a:pPr>
            <a:r>
              <a:rPr lang="es-MX" dirty="0"/>
              <a:t>}</a:t>
            </a:r>
          </a:p>
          <a:p>
            <a:pPr marL="0" indent="0">
              <a:buNone/>
            </a:pPr>
            <a:r>
              <a:rPr lang="es-MX" dirty="0" err="1"/>
              <a:t>else</a:t>
            </a:r>
            <a:r>
              <a:rPr lang="es-MX" dirty="0"/>
              <a:t> {</a:t>
            </a:r>
          </a:p>
          <a:p>
            <a:pPr marL="0" indent="0">
              <a:buNone/>
            </a:pPr>
            <a:r>
              <a:rPr lang="es-MX" dirty="0"/>
              <a:t>	x = 7;</a:t>
            </a:r>
          </a:p>
          <a:p>
            <a:pPr marL="0" indent="0">
              <a:buNone/>
            </a:pPr>
            <a:r>
              <a:rPr lang="es-MX" dirty="0"/>
              <a:t>}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E8CE9F-744D-3D6F-F025-FBC0DA67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119" y="1690689"/>
            <a:ext cx="3608472" cy="10720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EAFBF0-6A91-FB01-CCA2-3AFE50EE6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119" y="2762771"/>
            <a:ext cx="3608472" cy="32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40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9C91B-272D-2859-AB6C-67DE055B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6FDE9D-EFA5-EE84-3A75-0F6808CF2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0105" y="1483388"/>
            <a:ext cx="4491789" cy="5009487"/>
          </a:xfrm>
        </p:spPr>
      </p:pic>
    </p:spTree>
    <p:extLst>
      <p:ext uri="{BB962C8B-B14F-4D97-AF65-F5344CB8AC3E}">
        <p14:creationId xmlns:p14="http://schemas.microsoft.com/office/powerpoint/2010/main" val="2423987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57655-4992-143D-04EC-2229882F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/>
              <a:t>Loops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09536-183A-D036-C3FB-2F9425B1E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7747"/>
            <a:ext cx="10515600" cy="4749216"/>
          </a:xfrm>
        </p:spPr>
        <p:txBody>
          <a:bodyPr/>
          <a:lstStyle/>
          <a:p>
            <a:r>
              <a:rPr lang="es-MX" dirty="0"/>
              <a:t>Saltan hacia atrás</a:t>
            </a:r>
          </a:p>
          <a:p>
            <a:r>
              <a:rPr lang="es-MX" dirty="0"/>
              <a:t>Hay dos tipos de ciclos 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BF0F38-F9EA-2C67-E48E-91373CDE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04" y="2359485"/>
            <a:ext cx="9870992" cy="13690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B4B828-0465-02CD-8A68-048EB9621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04" y="3989719"/>
            <a:ext cx="3865396" cy="21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247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513AC-A0E3-2217-735C-5A15D294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Ejemplos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0C38D-1764-DE60-73A9-4EA4841C4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- Con </a:t>
            </a:r>
            <a:r>
              <a:rPr lang="es-MX" b="1" dirty="0" err="1"/>
              <a:t>for</a:t>
            </a:r>
            <a:r>
              <a:rPr lang="es-MX" b="1" dirty="0"/>
              <a:t>:</a:t>
            </a:r>
          </a:p>
          <a:p>
            <a:pPr marL="0" indent="0">
              <a:buNone/>
            </a:pPr>
            <a:r>
              <a:rPr lang="es-MX" dirty="0" err="1"/>
              <a:t>int</a:t>
            </a:r>
            <a:r>
              <a:rPr lang="es-MX" dirty="0"/>
              <a:t> i;</a:t>
            </a:r>
          </a:p>
          <a:p>
            <a:pPr marL="0" indent="0">
              <a:buNone/>
            </a:pPr>
            <a:r>
              <a:rPr lang="es-CO" dirty="0" err="1"/>
              <a:t>for</a:t>
            </a:r>
            <a:r>
              <a:rPr lang="es-CO" dirty="0"/>
              <a:t> (i = 0; i&lt;5; i++){</a:t>
            </a:r>
          </a:p>
          <a:p>
            <a:pPr marL="0" indent="0">
              <a:buNone/>
            </a:pPr>
            <a:r>
              <a:rPr lang="es-CO" dirty="0"/>
              <a:t>}</a:t>
            </a:r>
          </a:p>
          <a:p>
            <a:pPr>
              <a:buFontTx/>
              <a:buChar char="-"/>
            </a:pPr>
            <a:r>
              <a:rPr lang="es-CO" dirty="0"/>
              <a:t>Con </a:t>
            </a:r>
            <a:r>
              <a:rPr lang="es-CO" b="1" dirty="0" err="1"/>
              <a:t>while</a:t>
            </a:r>
            <a:r>
              <a:rPr lang="es-CO" b="1" dirty="0"/>
              <a:t>:</a:t>
            </a:r>
          </a:p>
          <a:p>
            <a:pPr marL="0" indent="0">
              <a:buNone/>
            </a:pPr>
            <a:r>
              <a:rPr lang="es-CO" dirty="0" err="1"/>
              <a:t>int</a:t>
            </a:r>
            <a:r>
              <a:rPr lang="es-CO" dirty="0"/>
              <a:t> i = 0;</a:t>
            </a:r>
          </a:p>
          <a:p>
            <a:pPr marL="0" indent="0">
              <a:buNone/>
            </a:pPr>
            <a:r>
              <a:rPr lang="es-CO" dirty="0" err="1"/>
              <a:t>while</a:t>
            </a:r>
            <a:r>
              <a:rPr lang="es-CO" dirty="0"/>
              <a:t>(i&lt;5){</a:t>
            </a:r>
          </a:p>
          <a:p>
            <a:pPr marL="0" indent="0">
              <a:buNone/>
            </a:pPr>
            <a:r>
              <a:rPr lang="es-CO" dirty="0"/>
              <a:t>	i++;</a:t>
            </a:r>
          </a:p>
          <a:p>
            <a:pPr marL="0" indent="0">
              <a:buNone/>
            </a:pPr>
            <a:r>
              <a:rPr lang="es-CO" dirty="0"/>
              <a:t>}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9AF185-6716-0AB9-8573-75C315CA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405" y="1524000"/>
            <a:ext cx="7318218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16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DA80E-F306-F08B-45CF-54E192AF6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Reto de desensamblado</a:t>
            </a:r>
            <a:endParaRPr lang="es-CO" b="1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E42F79C-D851-3203-72AD-3B389A20C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1768" y="1417972"/>
            <a:ext cx="4106779" cy="4750175"/>
          </a:xfrm>
        </p:spPr>
      </p:pic>
    </p:spTree>
    <p:extLst>
      <p:ext uri="{BB962C8B-B14F-4D97-AF65-F5344CB8AC3E}">
        <p14:creationId xmlns:p14="http://schemas.microsoft.com/office/powerpoint/2010/main" val="2390112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BFE9-B0B6-A336-2609-4F926A3A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Reto de desensamblado: Solución</a:t>
            </a:r>
            <a:endParaRPr lang="es-CO" dirty="0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id="{CEA6020B-2FD0-F344-C605-074139256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852" y="1466390"/>
            <a:ext cx="4224453" cy="4886284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D534423-8FF1-7CDF-856C-D5A5E8B4D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430" y="1834494"/>
            <a:ext cx="4042410" cy="31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85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C97F87-8678-E496-E279-20025877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Funciones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E388BA-9CA3-7D64-704D-446649C20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Una función es un bloque de código que realiza tareas específicas.</a:t>
            </a:r>
          </a:p>
          <a:p>
            <a:pPr algn="just"/>
            <a:r>
              <a:rPr lang="es-MX" dirty="0"/>
              <a:t>Cuenta con parámetros (opcionales), cuerpo que contiene el código a ejecutar y variables locales que son usadas para guardar valores temporalmente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77242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10153-01CD-D09B-4A76-1986291D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Recordemos…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75ACF9-58FF-A250-B1DB-3FCEDBBB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r>
              <a:rPr lang="es-MX" dirty="0"/>
              <a:t>Un proceso es un programa en ejecución 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2C3AF3-E836-5E02-4AD3-779F934B9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681037"/>
            <a:ext cx="5785185" cy="549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811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CC6F5-8A8F-6C03-AA9E-4AE365B9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El </a:t>
            </a:r>
            <a:r>
              <a:rPr lang="es-MX" b="1" dirty="0" err="1"/>
              <a:t>stack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60229-49FE-ABA7-FD0F-188C6E212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856" y="1568952"/>
            <a:ext cx="10515600" cy="4351338"/>
          </a:xfrm>
        </p:spPr>
        <p:txBody>
          <a:bodyPr/>
          <a:lstStyle/>
          <a:p>
            <a:r>
              <a:rPr lang="es-MX" dirty="0"/>
              <a:t>Área de memoria que es asignada por el sistema operativo cuando el proceso es creado</a:t>
            </a:r>
          </a:p>
          <a:p>
            <a:r>
              <a:rPr lang="es-MX" dirty="0"/>
              <a:t>Se organiza en una estructura LIFO (</a:t>
            </a:r>
            <a:r>
              <a:rPr lang="es-MX" dirty="0" err="1"/>
              <a:t>Last</a:t>
            </a:r>
            <a:r>
              <a:rPr lang="es-MX" dirty="0"/>
              <a:t>-In-</a:t>
            </a:r>
            <a:r>
              <a:rPr lang="es-MX" dirty="0" err="1"/>
              <a:t>First</a:t>
            </a:r>
            <a:r>
              <a:rPr lang="es-MX" dirty="0"/>
              <a:t>-</a:t>
            </a:r>
            <a:r>
              <a:rPr lang="es-MX" dirty="0" err="1"/>
              <a:t>Out</a:t>
            </a:r>
            <a:r>
              <a:rPr lang="es-MX" dirty="0"/>
              <a:t>)</a:t>
            </a:r>
          </a:p>
          <a:p>
            <a:r>
              <a:rPr lang="es-MX" dirty="0"/>
              <a:t>Dos operaciones importantes:</a:t>
            </a:r>
          </a:p>
          <a:p>
            <a:pPr lvl="1"/>
            <a:r>
              <a:rPr lang="es-MX" dirty="0" err="1"/>
              <a:t>Push</a:t>
            </a:r>
            <a:r>
              <a:rPr lang="es-MX" dirty="0"/>
              <a:t>: Ingresa valor de 4 bytes en la pila</a:t>
            </a:r>
          </a:p>
          <a:p>
            <a:pPr lvl="1"/>
            <a:r>
              <a:rPr lang="es-MX" dirty="0"/>
              <a:t>Pop: Saca un valor de 4 bytes de la pila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492E07-D0E1-BBE3-7B9B-38FF6BD8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92" y="4392278"/>
            <a:ext cx="10412552" cy="59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43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F0235-228B-C6F5-381E-0C5F8AB8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/>
              <a:t>El stack</a:t>
            </a:r>
            <a:endParaRPr lang="es-CO" b="1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A103EE-45AB-BE06-A3B1-B10F9DA06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3769853"/>
            <a:ext cx="1989230" cy="19027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6D5E40F-A0B3-5A1B-9F23-2BF27E66E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325" y="934632"/>
            <a:ext cx="7423475" cy="201494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2157B1C-8803-C90B-BF76-795C84441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875" y="2949575"/>
            <a:ext cx="816292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70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22D60-517E-0474-2CB0-37823B05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La instrucción </a:t>
            </a:r>
            <a:r>
              <a:rPr lang="es-MX" b="1" dirty="0" err="1"/>
              <a:t>call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332D3-6576-BF7E-C8C1-EE36881F4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MX" dirty="0"/>
              <a:t>Es una instrucción usada en el código ensamblador para llamar a una función</a:t>
            </a:r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endParaRPr lang="es-MX" dirty="0"/>
          </a:p>
          <a:p>
            <a:pPr algn="just"/>
            <a:r>
              <a:rPr lang="es-MX" dirty="0"/>
              <a:t>Para retornar de una función, usamos la instrucción  </a:t>
            </a:r>
            <a:r>
              <a:rPr lang="es-MX" i="1" dirty="0" err="1"/>
              <a:t>ret</a:t>
            </a:r>
            <a:r>
              <a:rPr lang="es-MX" dirty="0"/>
              <a:t>. Esta instrucción saca la dirección de memoria de la parte superior del </a:t>
            </a:r>
            <a:r>
              <a:rPr lang="es-MX" dirty="0" err="1"/>
              <a:t>stack</a:t>
            </a:r>
            <a:r>
              <a:rPr lang="es-MX" dirty="0"/>
              <a:t>; y así la memoria que fue sacada es situada en el registro</a:t>
            </a:r>
            <a:r>
              <a:rPr lang="es-MX" i="1" dirty="0"/>
              <a:t> </a:t>
            </a:r>
            <a:r>
              <a:rPr lang="es-MX" i="1" dirty="0" err="1"/>
              <a:t>eip</a:t>
            </a:r>
            <a:r>
              <a:rPr lang="es-MX" dirty="0"/>
              <a:t>, y el control sele transfiere a esa dirección de memoria.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A3BFD67-1A7B-39EE-0CC4-B10E619C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558" y="3110163"/>
            <a:ext cx="5240883" cy="6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498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5095D8-0A88-7338-C706-91D4B9D9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337"/>
            <a:ext cx="11353800" cy="1325563"/>
          </a:xfrm>
        </p:spPr>
        <p:txBody>
          <a:bodyPr/>
          <a:lstStyle/>
          <a:p>
            <a:r>
              <a:rPr lang="es-MX" b="1" dirty="0"/>
              <a:t>Parámetros de la función y valores de retorno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839A7D-38E8-E83F-FAF7-102055F4E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int test(int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x, y;</a:t>
            </a:r>
          </a:p>
          <a:p>
            <a:pPr marL="0" indent="0">
              <a:buNone/>
            </a:pPr>
            <a:r>
              <a:rPr lang="en-US" dirty="0"/>
              <a:t>x = a;</a:t>
            </a:r>
          </a:p>
          <a:p>
            <a:pPr marL="0" indent="0">
              <a:buNone/>
            </a:pPr>
            <a:r>
              <a:rPr lang="en-US" dirty="0"/>
              <a:t>y = b;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test(2, 3);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1F295C-3054-D862-E2BE-A4F2E4EB8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875" y="3986965"/>
            <a:ext cx="8415197" cy="137510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33DAC86-9A7B-ABF7-91FD-23BDCA6F7B63}"/>
              </a:ext>
            </a:extLst>
          </p:cNvPr>
          <p:cNvSpPr/>
          <p:nvPr/>
        </p:nvSpPr>
        <p:spPr>
          <a:xfrm>
            <a:off x="3128211" y="3894723"/>
            <a:ext cx="8582526" cy="1572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5E1B1FD-E78C-5880-3000-EAB4626C01E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2390274" y="4680787"/>
            <a:ext cx="737937" cy="1158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CF96B617-9336-89DE-2BA7-D8F52992E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88" y="1391150"/>
            <a:ext cx="822007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02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4084D-CBA0-F826-6A7C-23CAF2FD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Parámetros de la función y valores de retorno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EB4081-1971-B9AE-6E18-176E67F27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int test(int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int x, y;</a:t>
            </a:r>
          </a:p>
          <a:p>
            <a:pPr marL="0" indent="0">
              <a:buNone/>
            </a:pPr>
            <a:r>
              <a:rPr lang="en-US" dirty="0"/>
              <a:t>x = a;</a:t>
            </a:r>
          </a:p>
          <a:p>
            <a:pPr marL="0" indent="0">
              <a:buNone/>
            </a:pPr>
            <a:r>
              <a:rPr lang="en-US" dirty="0"/>
              <a:t>y = b;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test(2, 3);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sp>
        <p:nvSpPr>
          <p:cNvPr id="6" name="Cerrar llave 5">
            <a:extLst>
              <a:ext uri="{FF2B5EF4-FFF2-40B4-BE49-F238E27FC236}">
                <a16:creationId xmlns:a16="http://schemas.microsoft.com/office/drawing/2014/main" id="{9970342A-2961-E553-8040-33B008DE6167}"/>
              </a:ext>
            </a:extLst>
          </p:cNvPr>
          <p:cNvSpPr/>
          <p:nvPr/>
        </p:nvSpPr>
        <p:spPr>
          <a:xfrm>
            <a:off x="3144253" y="1825625"/>
            <a:ext cx="593558" cy="2473659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132184A-78FD-33F6-4691-0ED1873A9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870" y="1690688"/>
            <a:ext cx="3571625" cy="419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3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1E234-AA66-7782-53C9-F610C582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Tarea </a:t>
            </a:r>
            <a:r>
              <a:rPr lang="es-MX" dirty="0">
                <a:sym typeface="Wingdings" panose="05000000000000000000" pitchFamily="2" charset="2"/>
              </a:rPr>
              <a:t>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DF27E6-33C2-B2B0-A552-E5D9DDD6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Ataque al registro EBP: </a:t>
            </a:r>
            <a:r>
              <a:rPr lang="es-CO" dirty="0">
                <a:hlinkClick r:id="rId2"/>
              </a:rPr>
              <a:t>https://www.puffinsecurity.com/es/partiendo-de-la-base-ataques-al-base-frame-pointer-ebp/</a:t>
            </a:r>
            <a:endParaRPr lang="es-CO" dirty="0"/>
          </a:p>
          <a:p>
            <a:r>
              <a:rPr lang="es-CO" dirty="0"/>
              <a:t>Leer sección de manejo de cadenas  de este libro y manejo de </a:t>
            </a:r>
            <a:r>
              <a:rPr lang="es-CO" dirty="0" err="1"/>
              <a:t>stack</a:t>
            </a:r>
            <a:r>
              <a:rPr lang="es-CO" dirty="0"/>
              <a:t>:  </a:t>
            </a:r>
          </a:p>
          <a:p>
            <a:pPr marL="0" indent="0">
              <a:buNone/>
            </a:pPr>
            <a:r>
              <a:rPr lang="es-CO" dirty="0"/>
              <a:t>https://edu.anarcho-copy.org/other/Reverse%20Engineering/Learning_Malware_Analysis.pdf</a:t>
            </a:r>
          </a:p>
        </p:txBody>
      </p:sp>
    </p:spTree>
    <p:extLst>
      <p:ext uri="{BB962C8B-B14F-4D97-AF65-F5344CB8AC3E}">
        <p14:creationId xmlns:p14="http://schemas.microsoft.com/office/powerpoint/2010/main" val="2954372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45367-958F-2048-17B6-20580050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Referencias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8C4364-5A17-036B-589E-7C9A9BB6B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https://stackoverflow.com/questions/55623357/can-we-store-a-floating-point-in-a-regular-register</a:t>
            </a:r>
            <a:endParaRPr lang="es-CO" dirty="0"/>
          </a:p>
          <a:p>
            <a:r>
              <a:rPr lang="es-CO" dirty="0">
                <a:hlinkClick r:id="rId3"/>
              </a:rPr>
              <a:t>https://www.tutorialspoint.com/cprogramming/c_goto_statement.htm</a:t>
            </a:r>
            <a:endParaRPr lang="es-CO" dirty="0"/>
          </a:p>
          <a:p>
            <a:r>
              <a:rPr lang="es-CO" dirty="0"/>
              <a:t>https://edu.anarcho-copy.org/other/Reverse%20Engineering/Learning_Malware_Analysis.pdf</a:t>
            </a:r>
          </a:p>
        </p:txBody>
      </p:sp>
    </p:spTree>
    <p:extLst>
      <p:ext uri="{BB962C8B-B14F-4D97-AF65-F5344CB8AC3E}">
        <p14:creationId xmlns:p14="http://schemas.microsoft.com/office/powerpoint/2010/main" val="2371842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920</Words>
  <Application>Microsoft Office PowerPoint</Application>
  <PresentationFormat>Panorámica</PresentationFormat>
  <Paragraphs>131</Paragraphs>
  <Slides>39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Wingdings</vt:lpstr>
      <vt:lpstr>Tema de Office</vt:lpstr>
      <vt:lpstr>Ensamblador Sesión 2</vt:lpstr>
      <vt:lpstr>Recordemos…</vt:lpstr>
      <vt:lpstr>General-Purpose Registers</vt:lpstr>
      <vt:lpstr>Instruction Pointer (EIP)</vt:lpstr>
      <vt:lpstr>EFLAGS Register</vt:lpstr>
      <vt:lpstr>Movimiento de valores a registros</vt:lpstr>
      <vt:lpstr>Presentación de PowerPoint</vt:lpstr>
      <vt:lpstr>Presentación de PowerPoint</vt:lpstr>
      <vt:lpstr>Comentarios</vt:lpstr>
      <vt:lpstr>Presentación de PowerPoint</vt:lpstr>
      <vt:lpstr>Presentación de PowerPoint</vt:lpstr>
      <vt:lpstr>Presentación de PowerPoint</vt:lpstr>
      <vt:lpstr>Reto de desensamblado</vt:lpstr>
      <vt:lpstr>Consejo</vt:lpstr>
      <vt:lpstr>Operaciones aritméticas</vt:lpstr>
      <vt:lpstr>Reto de desensamblado</vt:lpstr>
      <vt:lpstr>Reto de desensamblado</vt:lpstr>
      <vt:lpstr>Reto de desensamblado</vt:lpstr>
      <vt:lpstr>Operaciones bit a bit</vt:lpstr>
      <vt:lpstr>Operaciones bit a bit</vt:lpstr>
      <vt:lpstr>Branching and conditionals</vt:lpstr>
      <vt:lpstr>Branching and conditionals</vt:lpstr>
      <vt:lpstr>EJEMPLO</vt:lpstr>
      <vt:lpstr>If-Else Statement</vt:lpstr>
      <vt:lpstr>If-Elseif-Else Statement</vt:lpstr>
      <vt:lpstr>Reto de desensamblado</vt:lpstr>
      <vt:lpstr>Loops</vt:lpstr>
      <vt:lpstr>Ejemplos</vt:lpstr>
      <vt:lpstr>Reto de desensamblado</vt:lpstr>
      <vt:lpstr>Reto de desensamblado: Solución</vt:lpstr>
      <vt:lpstr>Funciones</vt:lpstr>
      <vt:lpstr>Recordemos…</vt:lpstr>
      <vt:lpstr>El stack</vt:lpstr>
      <vt:lpstr>El stack</vt:lpstr>
      <vt:lpstr>La instrucción call</vt:lpstr>
      <vt:lpstr>Parámetros de la función y valores de retorno</vt:lpstr>
      <vt:lpstr>Parámetros de la función y valores de retorno</vt:lpstr>
      <vt:lpstr>Tarea 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Carmen Calderón</dc:creator>
  <cp:lastModifiedBy>Carmen Calderón</cp:lastModifiedBy>
  <cp:revision>3</cp:revision>
  <dcterms:created xsi:type="dcterms:W3CDTF">2025-05-31T07:15:42Z</dcterms:created>
  <dcterms:modified xsi:type="dcterms:W3CDTF">2025-06-01T01:56:57Z</dcterms:modified>
</cp:coreProperties>
</file>